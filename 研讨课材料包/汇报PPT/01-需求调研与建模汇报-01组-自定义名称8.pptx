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c3696f97f6478e" /><Relationship Type="http://schemas.openxmlformats.org/officeDocument/2006/relationships/extended-properties" Target="/docProps/app.xml" Id="Rbdc4ea62a8354b5c" /><Relationship Type="http://schemas.openxmlformats.org/officeDocument/2006/relationships/officeDocument" Target="/ppt/presentation.xml" Id="R98de4fb65ee94c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57c5d0e96d415f"/>
  </p:sldMasterIdLst>
  <p:notesMasterIdLst>
    <p:notesMasterId xmlns:r="http://schemas.openxmlformats.org/officeDocument/2006/relationships" r:id="R58b7841318cb4365"/>
  </p:notesMasterIdLst>
  <p:sldIdLst>
    <p:sldId xmlns:r="http://schemas.openxmlformats.org/officeDocument/2006/relationships" id="256" r:id="Ra7a225cb0da440b8"/>
    <p:sldId xmlns:r="http://schemas.openxmlformats.org/officeDocument/2006/relationships" id="257" r:id="Rc940ef3769854b36"/>
    <p:sldId xmlns:r="http://schemas.openxmlformats.org/officeDocument/2006/relationships" id="258" r:id="R0d5e127f186e40d0"/>
    <p:sldId xmlns:r="http://schemas.openxmlformats.org/officeDocument/2006/relationships" id="259" r:id="R4cff8c59a75e40d7"/>
    <p:sldId xmlns:r="http://schemas.openxmlformats.org/officeDocument/2006/relationships" id="260" r:id="R89e6934949e24b79"/>
    <p:sldId xmlns:r="http://schemas.openxmlformats.org/officeDocument/2006/relationships" id="261" r:id="Ra42ec34642c74e9a"/>
    <p:sldId xmlns:r="http://schemas.openxmlformats.org/officeDocument/2006/relationships" id="262" r:id="R5454548458614065"/>
    <p:sldId xmlns:r="http://schemas.openxmlformats.org/officeDocument/2006/relationships" id="263" r:id="R7a4095e168e249b4"/>
    <p:sldId xmlns:r="http://schemas.openxmlformats.org/officeDocument/2006/relationships" id="264" r:id="R8b1f6a4b49f04aba"/>
    <p:sldId xmlns:r="http://schemas.openxmlformats.org/officeDocument/2006/relationships" id="265" r:id="R9244d0135e6243df"/>
    <p:sldId xmlns:r="http://schemas.openxmlformats.org/officeDocument/2006/relationships" id="266" r:id="Rfccc8e565fb34edf"/>
    <p:sldId xmlns:r="http://schemas.openxmlformats.org/officeDocument/2006/relationships" id="267" r:id="R071f1b6e35ea474c"/>
    <p:sldId xmlns:r="http://schemas.openxmlformats.org/officeDocument/2006/relationships" id="268" r:id="Rf437833b329243b2"/>
    <p:sldId xmlns:r="http://schemas.openxmlformats.org/officeDocument/2006/relationships" id="269" r:id="R277b13a669a548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21a47d61ee4390" /><Relationship Type="http://schemas.openxmlformats.org/officeDocument/2006/relationships/slideMaster" Target="/ppt/slideMasters/slideMaster1.xml" Id="Rb157c5d0e96d415f" /><Relationship Type="http://schemas.openxmlformats.org/officeDocument/2006/relationships/notesMaster" Target="/ppt/notesMasters/notesMaster1.xml" Id="R58b7841318cb4365" /><Relationship Type="http://schemas.openxmlformats.org/officeDocument/2006/relationships/presProps" Target="/ppt/presProps.xml" Id="Rbefc214c90394718" /><Relationship Type="http://schemas.openxmlformats.org/officeDocument/2006/relationships/tableStyles" Target="/ppt/tableStyles.xml" Id="Reba49d3f17bd4819" /><Relationship Type="http://schemas.openxmlformats.org/officeDocument/2006/relationships/slide" Target="/ppt/slides/slide1.xml" Id="Ra7a225cb0da440b8" /><Relationship Type="http://schemas.openxmlformats.org/officeDocument/2006/relationships/slide" Target="/ppt/slides/slide2.xml" Id="Rc940ef3769854b36" /><Relationship Type="http://schemas.openxmlformats.org/officeDocument/2006/relationships/slide" Target="/ppt/slides/slide3.xml" Id="R0d5e127f186e40d0" /><Relationship Type="http://schemas.openxmlformats.org/officeDocument/2006/relationships/slide" Target="/ppt/slides/slide4.xml" Id="R4cff8c59a75e40d7" /><Relationship Type="http://schemas.openxmlformats.org/officeDocument/2006/relationships/slide" Target="/ppt/slides/slide5.xml" Id="R89e6934949e24b79" /><Relationship Type="http://schemas.openxmlformats.org/officeDocument/2006/relationships/slide" Target="/ppt/slides/slide6.xml" Id="Ra42ec34642c74e9a" /><Relationship Type="http://schemas.openxmlformats.org/officeDocument/2006/relationships/slide" Target="/ppt/slides/slide7.xml" Id="R5454548458614065" /><Relationship Type="http://schemas.openxmlformats.org/officeDocument/2006/relationships/slide" Target="/ppt/slides/slide8.xml" Id="R7a4095e168e249b4" /><Relationship Type="http://schemas.openxmlformats.org/officeDocument/2006/relationships/slide" Target="/ppt/slides/slide9.xml" Id="R8b1f6a4b49f04aba" /><Relationship Type="http://schemas.openxmlformats.org/officeDocument/2006/relationships/slide" Target="/ppt/slides/slide10.xml" Id="R9244d0135e6243df" /><Relationship Type="http://schemas.openxmlformats.org/officeDocument/2006/relationships/slide" Target="/ppt/slides/slide11.xml" Id="Rfccc8e565fb34edf" /><Relationship Type="http://schemas.openxmlformats.org/officeDocument/2006/relationships/slide" Target="/ppt/slides/slide12.xml" Id="R071f1b6e35ea474c" /><Relationship Type="http://schemas.openxmlformats.org/officeDocument/2006/relationships/slide" Target="/ppt/slides/slide13.xml" Id="Rf437833b329243b2" /><Relationship Type="http://schemas.openxmlformats.org/officeDocument/2006/relationships/slide" Target="/ppt/slides/slide14.xml" Id="R277b13a669a548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982fedc41242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a806583dee413f" /><Relationship Type="http://schemas.openxmlformats.org/officeDocument/2006/relationships/notesMaster" Target="/ppt/notesMasters/notesMaster1.xml" Id="R73212be77fe142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7fd8f857904157" /><Relationship Type="http://schemas.openxmlformats.org/officeDocument/2006/relationships/notesMaster" Target="/ppt/notesMasters/notesMaster1.xml" Id="R22b9f5349f094c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bd19b4e90545f0" /><Relationship Type="http://schemas.openxmlformats.org/officeDocument/2006/relationships/notesMaster" Target="/ppt/notesMasters/notesMaster1.xml" Id="R8789e364bcb74a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1c66c7517346d3" /><Relationship Type="http://schemas.openxmlformats.org/officeDocument/2006/relationships/notesMaster" Target="/ppt/notesMasters/notesMaster1.xml" Id="R1548ab5b8d4447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ccae0668fc4cb0" /><Relationship Type="http://schemas.openxmlformats.org/officeDocument/2006/relationships/notesMaster" Target="/ppt/notesMasters/notesMaster1.xml" Id="R373ad21c051444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952bbdc633427a" /><Relationship Type="http://schemas.openxmlformats.org/officeDocument/2006/relationships/notesMaster" Target="/ppt/notesMasters/notesMaster1.xml" Id="R3e410ef0a2b643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e962f89a8141b4" /><Relationship Type="http://schemas.openxmlformats.org/officeDocument/2006/relationships/notesMaster" Target="/ppt/notesMasters/notesMaster1.xml" Id="R46c21941a59941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0af1f9d8464c35" /><Relationship Type="http://schemas.openxmlformats.org/officeDocument/2006/relationships/notesMaster" Target="/ppt/notesMasters/notesMaster1.xml" Id="R06985b06223842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fa9b68a3784abc" /><Relationship Type="http://schemas.openxmlformats.org/officeDocument/2006/relationships/notesMaster" Target="/ppt/notesMasters/notesMaster1.xml" Id="Rfd6144af7c5e40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142dbc7f2341da" /><Relationship Type="http://schemas.openxmlformats.org/officeDocument/2006/relationships/notesMaster" Target="/ppt/notesMasters/notesMaster1.xml" Id="Re0df140221e742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92e6dec9d14561" /><Relationship Type="http://schemas.openxmlformats.org/officeDocument/2006/relationships/notesMaster" Target="/ppt/notesMasters/notesMaster1.xml" Id="R42f5fc64967f44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5610678fe24d9b" /><Relationship Type="http://schemas.openxmlformats.org/officeDocument/2006/relationships/notesMaster" Target="/ppt/notesMasters/notesMaster1.xml" Id="R27fd6e7bfafa44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9233dbfc894ce2" /><Relationship Type="http://schemas.openxmlformats.org/officeDocument/2006/relationships/notesMaster" Target="/ppt/notesMasters/notesMaster1.xml" Id="R9bd0f55e1afc4b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e06f75fe244ad9" /><Relationship Type="http://schemas.openxmlformats.org/officeDocument/2006/relationships/notesMaster" Target="/ppt/notesMasters/notesMaster1.xml" Id="R6007988c81774e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 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汇报的是学术成果分享平台的需求调研与需求建模。平台把论文、专利、科研项目和获奖汇集起来，让普通用户查成果、找学者，让科研人员维护自己的门户，让管理员管理数据和身份审核。我们是谭火彬班01组自定义名称8，共10人。李沐衡担任团队负责人兼第1分组负责人，范韶博担任第2分组负责人，两个分组各5人。两组均参与调研与建模，不能把两个小组误写成仅分别完成两个作业。接下来先说明用户和调研依据，再用门户认领解释核心模型，最后介绍数据规则、验收目标和AI使用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备询说明：</a:t>
            </a:r>
          </a:p>
          <a:p xmlns:a="http://schemas.openxmlformats.org/drawingml/2006/main">
            <a:r>
              <a:t>课程展示要求PDF第2—3页：建议两名代表分讲调研与建模，全员参与。首页须有团队、成员与分工；两组采用的模型、提示词、技术路线及工具在AI说明页按真实情况补齐。成员学号与完整角色见通用材料中的团队信息表，主讲与具体任务分工待确认。CodeArts为可选推荐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来源与定位（本地路径相对于本PPT所在文件夹，完整材料包需保持目录结构）：</a:t>
            </a:r>
          </a:p>
          <a:p xmlns:a="http://schemas.openxmlformats.org/drawingml/2006/main">
            <a:r>
              <a:t>../课程参考原文/《软件系统分析与设计》实践任务书（一）学术成果分享平台-v1.pdf</a:t>
            </a:r>
          </a:p>
          <a:p xmlns:a="http://schemas.openxmlformats.org/drawingml/2006/main">
            <a:r>
              <a:t>../课程参考原文/《软件系统分析与设计》课程实践作业课堂展示与提交要求（需求调研与建模成果）(1).pdf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 40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平台的使用范围。左侧是需要管理的四类成果，中间是检索、个人门户和统计能力，右侧是三类使用者。普通用户可以查成果、找学者并核对来源。科研人员可以申请认领本人门户，通过后维护展示信息。管理员负责采集、审核和数据问题处理。比如一位科研人员查到自己的论文后进入个人门户，再申请认领，这条路径就是后面建模的主要案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备询说明：</a:t>
            </a:r>
          </a:p>
          <a:p xmlns:a="http://schemas.openxmlformats.org/drawingml/2006/main">
            <a:r>
              <a:t>依据任务书PDF第3—4页和SRS第1—3节。此图为业务范围示意，不表示已实现界面或系统架构。统计范围包括机构成果分类计数、领域关键词趋势和基础合著关系，不能解释为学术质量评价。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来源与定位（本地路径相对于本PPT所在文件夹，完整材料包需保持目录结构）：</a:t>
            </a:r>
          </a:p>
          <a:p xmlns:a="http://schemas.openxmlformats.org/drawingml/2006/main">
            <a:r>
              <a:t>../课程参考原文/《软件系统分析与设计》实践任务书（一）学术成果分享平台-v1.pdf</a:t>
            </a:r>
          </a:p>
          <a:p xmlns:a="http://schemas.openxmlformats.org/drawingml/2006/main">
            <a:r>
              <a:t>../作业2-需求建模成果/01-SRS-01组-自定义名称8.docx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 50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调研要确定三件事：用户要完成哪些任务，四类成果是否有可用来源，以及什么情况下算需求满足。对象覆盖刚才的三类用户。本轮实际做的是课程与官方资料研读、同类平台及公开用户研究分析，并对论文接口做小样本检查。三类角色的访谈提纲和记录表已经准备，但尚未开展本校访谈。因此，这一阶段可以提出有依据的需求草案，用户接受哪些身份材料、管理员工作量等问题仍需后续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备询说明：</a:t>
            </a:r>
          </a:p>
          <a:p xmlns:a="http://schemas.openxmlformats.org/drawingml/2006/main">
            <a:r>
              <a:t>调研报告第2节。公开研究属于二手研究，不是团队自行执行的访谈。10月12日完成材料整理与初稿；10月13日修订与预提交；10月14日研讨；课后补充验证。每类先访谈2人属于建议计划，不是已完成样本。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来源与定位（本地路径相对于本PPT所在文件夹，完整材料包需保持目录结构）：</a:t>
            </a:r>
          </a:p>
          <a:p xmlns:a="http://schemas.openxmlformats.org/drawingml/2006/main">
            <a:r>
              <a:t>../作业1-需求调研成果/01-需求调研报告-01组-自定义名称8.docx</a:t>
            </a:r>
          </a:p>
          <a:p xmlns:a="http://schemas.openxmlformats.org/drawingml/2006/main">
            <a:r>
              <a:t>../作业1-需求调研成果/02-调研支撑材料与公开用户研究-01组-自定义名称8.docx</a:t>
            </a:r>
          </a:p>
          <a:p xmlns:a="http://schemas.openxmlformats.org/drawingml/2006/main">
            <a:r>
              <a:t>../作业1-需求调研成果/公开资料/公开接口小样本探测记录.json</a:t>
            </a:r>
          </a:p>
          <a:p xmlns:a="http://schemas.openxmlformats.org/drawingml/2006/main">
            <a:r>
              <a:t>../课程参考原文/《软件系统分析与设计》课程实践作业课堂展示与提交要求（需求调研与建模成果）(1).pdf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 50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研究给出的主要启示是：用户经常围绕某位学者查看成果，也希望知道搜索结果为什么相关。因此，普通用户侧要支持成果与学者两种检索，给出筛选、来源和门户入口。科研人员的认领与维护、管理员的采集与审核，直接来自任务书规定的业务场景。我们把它们进一步明确为：认领通过后才可维护本人门户，失败和审核决定都要给出原因。这里的优先级是基于证据和任务分析提出的建议，并没有把公开调查结果当成本校用户的统计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备询说明：</a:t>
            </a:r>
          </a:p>
          <a:p xmlns:a="http://schemas.openxmlformats.org/drawingml/2006/main">
            <a:r>
              <a:t>DBLP 2025/2026官方用户调查：534份响应，316份完整问卷；报告称63.4%至少每周查看某位研究者的论文产出。NC State研究完成于2019年，包含8名学生，另1名教师不纳入主体总结，报告涉及排序理解和跨学科发现。两项均为公开二手研究。本校用户频率、认证接受度、管理员审核工作量尚待访谈。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来源与定位（本地路径相对于本PPT所在文件夹，完整材料包需保持目录结构）：</a:t>
            </a:r>
          </a:p>
          <a:p xmlns:a="http://schemas.openxmlformats.org/drawingml/2006/main">
            <a:r>
              <a:t>../作业1-需求调研成果/01-需求调研报告-01组-自定义名称8.docx</a:t>
            </a:r>
          </a:p>
          <a:p xmlns:a="http://schemas.openxmlformats.org/drawingml/2006/main">
            <a:r>
              <a:t>../作业1-需求调研成果/02-调研支撑材料与公开用户研究-01组-自定义名称8.docx</a:t>
            </a:r>
          </a:p>
          <a:p xmlns:a="http://schemas.openxmlformats.org/drawingml/2006/main">
            <a:r>
              <a:t>https://blog.dblp.org/2026/04/29/results-and-findings-from-the-2025-2026-dblp-user-survey/</a:t>
            </a:r>
          </a:p>
          <a:p xmlns:a="http://schemas.openxmlformats.org/drawingml/2006/main">
            <a:r>
              <a:t>https://www.lib.ncsu.edu/projects/identifying-user-needs</a:t>
            </a:r>
          </a:p>
          <a:p xmlns:a="http://schemas.openxmlformats.org/drawingml/2006/main">
            <a:r>
              <a:t>../课程参考原文/《软件系统分析与设计》实践任务书（一）学术成果分享平台-v1.pdf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 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类成果的调研成熟度不同。论文已做小样本连接检查，OpenAlex返回三条JSON记录，DBLP本次响应无法按预期解析，不能说两个来源都已跑通。专利、项目和获奖找到官方公开入口，但仍需验证字段和获取方式。领域采用计算机科学下的四个本地演示分类，允许一项成果属于多个领域，未知的进入未分类；与参考分类的映射还需补充。获取数据只使用公开或获许可的方式，保留来源，不采集收费全文。遇到来源限制，可采用获许可导入或明确标记的模拟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备询说明：</a:t>
            </a:r>
          </a:p>
          <a:p xmlns:a="http://schemas.openxmlformats.org/drawingml/2006/main">
            <a:r>
              <a:t>接口记录日期2026-10-12：OpenAlex返回3条JSON记录；DBLP返回HTML导致JSON解析失败，HTTP状态未被原探测保留，不可编造。来源候选分别为国家知识产权局、国家自然科学基金委和科技部公开目录，入口确认不等于批量采集许可或稳定能力。分类为本地演示方案，非官方学科目录，来源映射待完善。官方来源链接见调研支撑材料和参考资料索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来源与定位（本地路径相对于本PPT所在文件夹，完整材料包需保持目录结构）：</a:t>
            </a:r>
          </a:p>
          <a:p xmlns:a="http://schemas.openxmlformats.org/drawingml/2006/main">
            <a:r>
              <a:t>../作业1-需求调研成果/01-需求调研报告-01组-自定义名称8.docx</a:t>
            </a:r>
          </a:p>
          <a:p xmlns:a="http://schemas.openxmlformats.org/drawingml/2006/main">
            <a:r>
              <a:t>../作业1-需求调研成果/02-调研支撑材料与公开用户研究-01组-自定义名称8.docx</a:t>
            </a:r>
          </a:p>
          <a:p xmlns:a="http://schemas.openxmlformats.org/drawingml/2006/main">
            <a:r>
              <a:t>../作业1-需求调研成果/公开资料/公开接口小样本探测记录.json</a:t>
            </a:r>
          </a:p>
          <a:p xmlns:a="http://schemas.openxmlformats.org/drawingml/2006/main">
            <a:r>
              <a:t>../课程参考原文/《软件系统分析与设计》实践任务书（一）学术成果分享平台-v1.pdf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 40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期以公开成果共享为范围。先完成采集治理，再让用户检索、查看和认领门户，并提供基础统计。统计包括机构成果数量、领域热点和合作关系，均应交代数据口径。基础链路完成后实现合作路径分析：输入两位学者，查看连接他们的最短合作路径，并能核对每条关系对应的合著论文。这个创新项排在后面实现，但仍纳入本组最终交付。收费全文、成果交易、专利转让和社交私信不进入一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备询说明：</a:t>
            </a:r>
          </a:p>
          <a:p xmlns:a="http://schemas.openxmlformats.org/drawingml/2006/main">
            <a:r>
              <a:t>SRS第1节与FR12、FR13，调研报告第5节。P0表示必做核心功能；P1是本组选择在基础功能后实现的创新项，不表示可省略。图中学者和论文为说明规则的虚构示例。合作图仅用已确认的合著关系，在限定领域、机构和年份后的图上计算最短路径，展示边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来源与定位（本地路径相对于本PPT所在文件夹，完整材料包需保持目录结构）：</a:t>
            </a:r>
          </a:p>
          <a:p xmlns:a="http://schemas.openxmlformats.org/drawingml/2006/main">
            <a:r>
              <a:t>../作业1-需求调研成果/01-需求调研报告-01组-自定义名称8.docx</a:t>
            </a:r>
          </a:p>
          <a:p xmlns:a="http://schemas.openxmlformats.org/drawingml/2006/main">
            <a:r>
              <a:t>../作业2-需求建模成果/01-SRS-01组-自定义名称8.docx</a:t>
            </a:r>
          </a:p>
          <a:p xmlns:a="http://schemas.openxmlformats.org/drawingml/2006/main">
            <a:r>
              <a:t>../作业2-需求建模成果/02-SPEC-01组-自定义名称8.docx</a:t>
            </a:r>
          </a:p>
          <a:p xmlns:a="http://schemas.openxmlformats.org/drawingml/2006/main">
            <a:r>
              <a:t>../课程参考原文/《软件系统分析与设计》实践任务书（一）学术成果分享平台-v1.pdf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 50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例图先看参与者，再看他们的目标。普通用户可以检索查看和使用公开统计。科研人员拥有普通用户的查询能力，还可以申请认领门户。认领成功之后，才获得维护本人门户的权限。右侧管理员负责采集任务与认领审核，外部数据源支持采集。这里展示课程要求的六类核心业务，完整模型还包含登录、详情、门户查看、治理、合作路径和审计。接下来沿科研人员的门户认领这个用例，分别解释处理流程和状态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备询说明：</a:t>
            </a:r>
          </a:p>
          <a:p xmlns:a="http://schemas.openxmlformats.org/drawingml/2006/main">
            <a:r>
              <a:t>该页为六类核心用例视图。与完整模型映射：检索查看UC04，统计分析UC10，采集任务管理UC02，门户认领UC07，成果管理UC09，认领审核UC08。完整模型含12个用例和对应规约。科研人员泛化普通用户，已认领科研人员泛化科研人员。登录为受限操作前置条件，不用include表示操作先后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来源与定位（本地路径相对于本PPT所在文件夹，完整材料包需保持目录结构）：</a:t>
            </a:r>
          </a:p>
          <a:p xmlns:a="http://schemas.openxmlformats.org/drawingml/2006/main">
            <a:r>
              <a:t>../作业2-需求建模成果/03-需求模型与追踪矩阵-01组-自定义名称8.docx</a:t>
            </a:r>
          </a:p>
          <a:p xmlns:a="http://schemas.openxmlformats.org/drawingml/2006/main">
            <a:r>
              <a:t>../作业2-需求建模成果/01-SRS-01组-自定义名称8.docx</a:t>
            </a:r>
          </a:p>
          <a:p xmlns:a="http://schemas.openxmlformats.org/drawingml/2006/main">
            <a:r>
              <a:t>../课程参考原文/《软件系统分析与设计》实践任务书（一）学术成果分享平台-v1.pdf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 55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设科研人员想管理自己的门户，首先提交认领材料。系统验证材料是否齐全、是否有可信的身份控制证据；不足时请申请人补充，然后重新验证。验证通过以后，管理员审核身份与公开学术信息，可以通过、驳回或要求补充。系统保存决定，通过时开放本人门户的维护权限，申请人可以看到状态和理由。这个流程的关键是把系统验证与人工审核分开，公开姓名或身份编号只能作为线索，不能直接证明申请人就是本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备询说明：</a:t>
            </a:r>
          </a:p>
          <a:p xmlns:a="http://schemas.openxmlformats.org/drawingml/2006/main">
            <a:r>
              <a:t>门户认领用户故事US03，对应UC07、UC08及SP04。活动图显示正常处理及补充材料分支，撤回由下一页状态图规定。系统验证包含证据完整性和身份控制验证；公开ORCID字符串不等于控制证明。管理员不得自审。通过时决定、所有者绑定和审计保持原子提交，细节留在SPE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来源与定位（本地路径相对于本PPT所在文件夹，完整材料包需保持目录结构）：</a:t>
            </a:r>
          </a:p>
          <a:p xmlns:a="http://schemas.openxmlformats.org/drawingml/2006/main">
            <a:r>
              <a:t>../作业2-需求建模成果/03-需求模型与追踪矩阵-01组-自定义名称8.docx</a:t>
            </a:r>
          </a:p>
          <a:p xmlns:a="http://schemas.openxmlformats.org/drawingml/2006/main">
            <a:r>
              <a:t>../作业2-需求建模成果/02-SPEC-01组-自定义名称8.docx</a:t>
            </a:r>
          </a:p>
          <a:p xmlns:a="http://schemas.openxmlformats.org/drawingml/2006/main">
            <a:r>
              <a:t>../作业2-需求建模成果/01-SRS-01组-自定义名称8.docx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 35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活动图说明谁来处理，状态图约束同一份申请能怎样变化。申请从已提交进入验证中，验证通过后等待审核。材料不足或管理员要求补充，都进入待补充，补交后重新验证。左侧所有处理中的状态都允许申请人撤回。审核通过、驳回和撤回后，这份申请就结束了。最重要的规则是：撤回后的申请不能再被批准，同一门户也不能出现两个有效所有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备询说明：</a:t>
            </a:r>
          </a:p>
          <a:p xmlns:a="http://schemas.openxmlformats.org/drawingml/2006/main">
            <a:r>
              <a:t>认领状态图展示已提交、验证中、待审核、待补充、已通过、已驳回、已撤回。复合状态边界上的撤回适用于其内部四个状态。通过还需申请状态与版本匹配、门户未被其他账号绑定；迟到请求不得覆盖终态。SP04、AT09、AT10保留全部守卫、事务与冲突响应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来源与定位（本地路径相对于本PPT所在文件夹，完整材料包需保持目录结构）：</a:t>
            </a:r>
          </a:p>
          <a:p xmlns:a="http://schemas.openxmlformats.org/drawingml/2006/main">
            <a:r>
              <a:t>../作业2-需求建模成果/03-需求模型与追踪矩阵-01组-自定义名称8.docx</a:t>
            </a:r>
          </a:p>
          <a:p xmlns:a="http://schemas.openxmlformats.org/drawingml/2006/main">
            <a:r>
              <a:t>../作业2-需求建模成果/02-SPEC-01组-自定义名称8.docx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 35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一类状态图描述采集任务。任务从待执行进入运行中，全部页面处理完成后成功。超时等临时错误进入重试，最多重试三次；无法恢复或重试耗尽时失败。左侧的待执行、运行中和重试都允许停止。停止后的任务不再接收新数据，已提交的记录保留，后续恢复通过新任务继续。这样管理员能判断当前任务在哪里，也能知道失败后应该怎样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备询说明：</a:t>
            </a:r>
          </a:p>
          <a:p xmlns:a="http://schemas.openxmlformats.org/drawingml/2006/main">
            <a:r>
              <a:t>采集状态为待执行、运行中、重试、成功、失败、已停止。最多初次尝试加3次重试。来源授权失败和不可解析载荷等不可恢复错误直接失败。停止更新任务版本或撤销租约，每批提交前复核状态，阻断迟到写入。恢复使用关联父任务的新任务ID和已提交游标。成功时仍报告隔离记录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来源与定位（本地路径相对于本PPT所在文件夹，完整材料包需保持目录结构）：</a:t>
            </a:r>
          </a:p>
          <a:p xmlns:a="http://schemas.openxmlformats.org/drawingml/2006/main">
            <a:r>
              <a:t>../作业2-需求建模成果/03-需求模型与追踪矩阵-01组-自定义名称8.docx</a:t>
            </a:r>
          </a:p>
          <a:p xmlns:a="http://schemas.openxmlformats.org/drawingml/2006/main">
            <a:r>
              <a:t>../作业2-需求建模成果/02-SPEC-01组-自定义名称8.docx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 75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除了流程，课程还要求明确数据处理规则。第一，清洗统一标识格式并保留原始字段，关键词缺失就保持为空。第二，成果去重优先使用可靠标识；同一论文来自两个平台，可以关联为一个成果，但两份来源都保留。第三，作者消歧解决同名问题，可靠身份标识优先；仅有相似姓名或机构时只辅助人工复核，不直接合并学者。第四，检索把成果和学者分开处理。成果先考虑精确DOI、完整题名，再按字段相关度排序；学者按姓名或可靠标识查找，同名结果分开显示。这些规则都写入SPEC，开发和验收使用同一份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备询说明：</a:t>
            </a:r>
          </a:p>
          <a:p xmlns:a="http://schemas.openxmlformats.org/drawingml/2006/main">
            <a:r>
              <a:t>SP01清洗：trim、NFKC、忽略大小写剥离允许的DOI前缀、转小写、校验；例“ DOI:10.5555/EXAMPLE ”得到“10.5555/example”。关键词只使用来源字段。稳定记录键与payload_hash分别承担记录身份与版本判断。SP02：同可靠主标识且无实质冲突才关联；无强标识时形成复核候选。作者分数S=0.40N+0.25A+0.20C+0.15T，仅用于复核排序，阈值待标注样本校准。SP03：成果精确DOI、完整题名、全部词项命中分别为3、2、1级，同级按5M题名+3M关键词+2M作者+M渠道，再按年份降序、ID升序。学者按可靠ORCID、姓名、已确认别名等确定命中等级，同名ID独立。完整规则与异常分支均在SPE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来源与定位（本地路径相对于本PPT所在文件夹，完整材料包需保持目录结构）：</a:t>
            </a:r>
          </a:p>
          <a:p xmlns:a="http://schemas.openxmlformats.org/drawingml/2006/main">
            <a:r>
              <a:t>../作业2-需求建模成果/02-SPEC-01组-自定义名称8.docx</a:t>
            </a:r>
          </a:p>
          <a:p xmlns:a="http://schemas.openxmlformats.org/drawingml/2006/main">
            <a:r>
              <a:t>../作业2-需求建模成果/01-SRS-01组-自定义名称8.docx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 50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RS说明系统做什么、谁能做，以及要达到什么质量。继续看认领这个用户故事：科研人员希望认领自己的门户，以维护成果。模型把它落实为验证、审核以及通过后的权限开放。验收时，可以安排两个管理员同时批准同一门户的不同申请，观察是否最多只有一个成功，并能找到审核记录。其他质量要求包括来源可追溯、越权操作被拒绝。性能也写成可测试目标：一万条成果、二十并发时，百分之九十五的检索请求不超过两秒。这些是后续实现的验收目标，目前没有系统实测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备询说明：</a:t>
            </a:r>
          </a:p>
          <a:p xmlns:a="http://schemas.openxmlformats.org/drawingml/2006/main">
            <a:r>
              <a:t>追踪链：US03→FR09/FR10→UC07/UC08→认领活动图与状态图→SP04→AT09/AT10。AT10同时批准同一门户的不同申请，最多一个有效绑定，冲突不产生半完成数据。性能为项目拟定目标：4核CPU、8GB内存、1万条成果，索引预热，20并发，固定100条查询连续5分钟，检索API P95≤2秒，记录错误率与实测环境。数据量是最终验收目标，不是目前已采集数量。SRS含范围、用户权限、功能、业务规则、数据与交互、非功能需求、验收追踪。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来源与定位（本地路径相对于本PPT所在文件夹，完整材料包需保持目录结构）：</a:t>
            </a:r>
          </a:p>
          <a:p xmlns:a="http://schemas.openxmlformats.org/drawingml/2006/main">
            <a:r>
              <a:t>../作业2-需求建模成果/01-SRS-01组-自定义名称8.docx</a:t>
            </a:r>
          </a:p>
          <a:p xmlns:a="http://schemas.openxmlformats.org/drawingml/2006/main">
            <a:r>
              <a:t>../作业2-需求建模成果/02-SPEC-01组-自定义名称8.docx</a:t>
            </a:r>
          </a:p>
          <a:p xmlns:a="http://schemas.openxmlformats.org/drawingml/2006/main">
            <a:r>
              <a:t>../作业2-需求建模成果/03-需求模型与追踪矩阵-01组-自定义名称8.docx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 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参与了公开资料整理、需求与模型草稿生成，也辅助检查一致性。一个具体修正是：初稿重点写了成果检索，对学者检索的行为说明不完整；根据提供的审阅意见，补上姓名和身份标识查询、同名结果区分及独立门户入口。这说明模型能帮助起草，但不能代替团队检查需求覆盖。两个小组应基于同一任务比较覆盖情况、模型错误和修正耗时，并保留真实提示词与原始输出。当前两组实际工具、实验结果和成员人工验证仍待填写，因此本页只说明已做的辅助和已发生的修正，不给出两组优劣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备询说明：</a:t>
            </a:r>
          </a:p>
          <a:p xmlns:a="http://schemas.openxmlformats.org/drawingml/2006/main">
            <a:r>
              <a:t>课程要求遵守声明、理解、责任，并讨论两组不同大模型的效果。没有真实实验不得编造结果。可比较同一输入材料下六类核心用例及两类状态模型的覆盖、错误和修正时间；第1分组由李沐衡负责，第2分组由范韶博负责。模型版本、提示词、工具及路线按实际填写。来源核查与工具校验不替代成员人工审查。当前未补齐真实成员复核与双组实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来源与定位（本地路径相对于本PPT所在文件夹，完整材料包需保持目录结构）：</a:t>
            </a:r>
          </a:p>
          <a:p xmlns:a="http://schemas.openxmlformats.org/drawingml/2006/main">
            <a:r>
              <a:t>../通用材料/02-AI使用声明与双组对比记录-01组-自定义名称8.docx</a:t>
            </a:r>
          </a:p>
          <a:p xmlns:a="http://schemas.openxmlformats.org/drawingml/2006/main">
            <a:r>
              <a:t>../作业2-需求建模成果/02-SPEC-01组-自定义名称8.docx</a:t>
            </a:r>
          </a:p>
          <a:p xmlns:a="http://schemas.openxmlformats.org/drawingml/2006/main">
            <a:r>
              <a:t>../作业2-需求建模成果/01-SRS-01组-自定义名称8.docx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 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阶段明确了一期范围：聚合四类公开成果，提供检索、门户与统计，认领通过后才可维护本人门户。围绕这些需求，已经形成调研报告、SRS、SPEC，以及用例、认领流程和两类状态模型的草案。本次最希望讨论两件事：认领应接受哪些可验证的身份材料；专利、项目与获奖应采用什么可行的数据获取方式。课前还需团队确认具体任务分工、完成真实复核和双组记录；课堂记录反馈，课后补充来源样例和分类映射，同步修订文档与模型。终稿建议在十月二十日二十四点前提交，具体以教师通知为准。下面进入问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备询说明：</a:t>
            </a:r>
          </a:p>
          <a:p xmlns:a="http://schemas.openxmlformats.org/drawingml/2006/main">
            <a:r>
              <a:t>课程要求PDF第3页为预提交与时间分配，第4—6页为反馈记录、修订和终稿提交。10月13日预提交，10月14日第3—5节研讨，终稿建议10月20日24:00前。课堂反馈、互评、修订责任人和日期应按实际情况填写。后续阶段的类图、时序图、架构、数据库、接口设计、实现与部署不作为本次已完成成果宣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来源与定位（本地路径相对于本PPT所在文件夹，完整材料包需保持目录结构）：</a:t>
            </a:r>
          </a:p>
          <a:p xmlns:a="http://schemas.openxmlformats.org/drawingml/2006/main">
            <a:r>
              <a:t>../课程参考原文/《软件系统分析与设计》实践任务书（一）学术成果分享平台-v1.pdf</a:t>
            </a:r>
          </a:p>
          <a:p xmlns:a="http://schemas.openxmlformats.org/drawingml/2006/main">
            <a:r>
              <a:t>../课程参考原文/《软件系统分析与设计》课程实践作业课堂展示与提交要求（需求调研与建模成果）(1).pdf</a:t>
            </a:r>
          </a:p>
          <a:p xmlns:a="http://schemas.openxmlformats.org/drawingml/2006/main">
            <a:r>
              <a:t>../作业1-需求调研成果/01-需求调研报告-01组-自定义名称8.docx</a:t>
            </a:r>
          </a:p>
          <a:p xmlns:a="http://schemas.openxmlformats.org/drawingml/2006/main">
            <a:r>
              <a:t>../作业2-需求建模成果/01-SRS-01组-自定义名称8.docx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4b78ccd8d46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3f0e65af4f46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6003f8a974b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0bc16bc2fd43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2e2a5248b48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f155ddc0243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E33DED-725D-489F-8B09-4512287FD2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3510CD-3550-4D3E-AD77-9699E8A5EE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9DD0DF3-F5AD-4054-9C2F-BB9EA85AD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E5FF5B-5989-4573-A0F7-15C4CB118F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80A027-53F3-4D5F-9435-C0C3A473A2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4FE191-FD8B-4FC6-98B0-6CC2BE325F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54D6A6-4DE1-4FDB-A151-272D2F4F9F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47A4C12-BE0E-461F-ACD3-59094F5B9B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8C64B1-0057-4C84-AD58-D2A89DDC31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E06830-7309-4227-8417-16C13E13B1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e3dd74f70241ab" /><Relationship Type="http://schemas.openxmlformats.org/officeDocument/2006/relationships/slideLayout" Target="/ppt/slideLayouts/slideLayout1.xml" Id="Ra6d82775b5c54188" /><Relationship Type="http://schemas.openxmlformats.org/officeDocument/2006/relationships/slideLayout" Target="/ppt/slideLayouts/slideLayout2.xml" Id="Ra20d827807414ebd" /><Relationship Type="http://schemas.openxmlformats.org/officeDocument/2006/relationships/slideLayout" Target="/ppt/slideLayouts/slideLayout3.xml" Id="Rd9b3afed8aef4e3e" /><Relationship Type="http://schemas.openxmlformats.org/officeDocument/2006/relationships/slideLayout" Target="/ppt/slideLayouts/slideLayout4.xml" Id="R25c89b923fc54c13" /><Relationship Type="http://schemas.openxmlformats.org/officeDocument/2006/relationships/slideLayout" Target="/ppt/slideLayouts/slideLayout5.xml" Id="R313b005e0c394e7a" /><Relationship Type="http://schemas.openxmlformats.org/officeDocument/2006/relationships/slideLayout" Target="/ppt/slideLayouts/slideLayout6.xml" Id="Rc031306ebf8046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d82775b5c54188"/>
    <p:sldLayoutId xmlns:r="http://schemas.openxmlformats.org/officeDocument/2006/relationships" id="2147483650" r:id="Ra20d827807414ebd"/>
    <p:sldLayoutId xmlns:r="http://schemas.openxmlformats.org/officeDocument/2006/relationships" id="2147483651" r:id="Rd9b3afed8aef4e3e"/>
    <p:sldLayoutId xmlns:r="http://schemas.openxmlformats.org/officeDocument/2006/relationships" id="2147483652" r:id="R25c89b923fc54c13"/>
    <p:sldLayoutId xmlns:r="http://schemas.openxmlformats.org/officeDocument/2006/relationships" id="2147483653" r:id="R313b005e0c394e7a"/>
    <p:sldLayoutId xmlns:r="http://schemas.openxmlformats.org/officeDocument/2006/relationships" id="2147483654" r:id="Rc031306ebf8046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bcea98da8c41fc" /><Relationship Type="http://schemas.openxmlformats.org/officeDocument/2006/relationships/notesSlide" Target="/ppt/notesSlides/notesSlide1.xml" Id="R93cb3e7e781b4d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68f9a3e56049a6" /><Relationship Type="http://schemas.openxmlformats.org/officeDocument/2006/relationships/notesSlide" Target="/ppt/notesSlides/notesSlide2.xml" Id="R339692a0448c4c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6310367d4642e8" /><Relationship Type="http://schemas.openxmlformats.org/officeDocument/2006/relationships/notesSlide" Target="/ppt/notesSlides/notesSlide3.xml" Id="Re3beae15e98e48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5136cd5f984b25" /><Relationship Type="http://schemas.openxmlformats.org/officeDocument/2006/relationships/notesSlide" Target="/ppt/notesSlides/notesSlide4.xml" Id="Ree79fb9ce5e94a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4da96edef8433d" /><Relationship Type="http://schemas.openxmlformats.org/officeDocument/2006/relationships/notesSlide" Target="/ppt/notesSlides/notesSlide5.xml" Id="R7fd2d9b5f9ca49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2a2fabe494926" /><Relationship Type="http://schemas.openxmlformats.org/officeDocument/2006/relationships/notesSlide" Target="/ppt/notesSlides/notesSlide6.xml" Id="R368509c51c534a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1a3bcea7844912" /><Relationship Type="http://schemas.openxmlformats.org/officeDocument/2006/relationships/notesSlide" Target="/ppt/notesSlides/notesSlide7.xml" Id="Rceea8ce11dc346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26d636a6f4b0a" /><Relationship Type="http://schemas.openxmlformats.org/officeDocument/2006/relationships/notesSlide" Target="/ppt/notesSlides/notesSlide8.xml" Id="Re085a6ea007140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5a228349304638" /><Relationship Type="http://schemas.openxmlformats.org/officeDocument/2006/relationships/notesSlide" Target="/ppt/notesSlides/notesSlide9.xml" Id="R35d005a7426e47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77718f64b467e" /><Relationship Type="http://schemas.openxmlformats.org/officeDocument/2006/relationships/notesSlide" Target="/ppt/notesSlides/notesSlide10.xml" Id="R6295b6be6b5a4d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8b9f09aee64b97" /><Relationship Type="http://schemas.openxmlformats.org/officeDocument/2006/relationships/notesSlide" Target="/ppt/notesSlides/notesSlide11.xml" Id="Rdd13c87940aa40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6e9c578af4b4a" /><Relationship Type="http://schemas.openxmlformats.org/officeDocument/2006/relationships/notesSlide" Target="/ppt/notesSlides/notesSlide12.xml" Id="Rbf5ba6bce2ff4e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c3c90baec446e6" /><Relationship Type="http://schemas.openxmlformats.org/officeDocument/2006/relationships/notesSlide" Target="/ppt/notesSlides/notesSlide13.xml" Id="Rf95764c63d1f40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33d8f4b20b47b1" /><Relationship Type="http://schemas.openxmlformats.org/officeDocument/2006/relationships/notesSlide" Target="/ppt/notesSlides/notesSlide14.xml" Id="Rc664268ed2e248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">
            <a:extLst xmlns:a="http://schemas.openxmlformats.org/drawingml/2006/main">
              <a:ext uri="{FF2B5EF4-FFF2-40B4-BE49-F238E27FC236}">
                <a16:creationId xmlns:a16="http://schemas.microsoft.com/office/drawing/2014/main" id="{1251DBC7-0B8D-49BB-981E-2DC9B1DF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CACB837-90EC-4242-AFA0-88943CA0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rPr>
              <a:t>软件系统分析与设计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C30A3EE-1CAE-4E2A-9591-EEF670FA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学术成果分享平台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C665247A-619B-41F0-8FCA-501DCA8E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rPr>
              <a:t>需求调研与需求建模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9BFAABE8-72D4-4941-95B8-6287B6CE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01组  自定义名称8    谭火彬班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F2099801-2876-4E33-AA67-4A6C7BE8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909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rPr>
              <a:t>团队负责人：李沐衡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8F312D16-B104-4264-B9E1-9D29DB2A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第1分组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DADA6D97-276C-4227-98F0-1A37DBD7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负责人：李沐衡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BB58C4E0-3264-4581-817E-87E84E68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48275"/>
            <a:ext cx="51720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rPr>
              <a:t>孔祥超凡  张家禾  张鹤严  唐鸣远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82E79AC5-C788-4A53-8C0D-06DBDAC5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67200"/>
            <a:ext cx="4943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第2分组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4EE0F515-C0A4-4F07-AA80-6DF075BE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762500"/>
            <a:ext cx="4943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负责人：范韶博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24AE96FC-5CAF-4C1B-BCE2-770EC41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248275"/>
            <a:ext cx="4943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rPr>
              <a:t>胡天灏  邢宇杰  李子恒  刘绪跃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2B7F4B21-C5E1-47AE-8E23-9848D1F2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rPr>
              <a:t>2026年10月14日研讨    汇报12分钟，问答3分钟</a:t>
            </a:r>
          </a:p>
        </p:txBody>
      </p:sp>
    </p:spTree>
    <p:extLst>
      <p:ext uri="{BB962C8B-B14F-4D97-AF65-F5344CB8AC3E}">
        <p14:creationId xmlns:p14="http://schemas.microsoft.com/office/powerpoint/2010/main" val="1933557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4">
            <a:extLst xmlns:a="http://schemas.openxmlformats.org/drawingml/2006/main">
              <a:ext uri="{FF2B5EF4-FFF2-40B4-BE49-F238E27FC236}">
                <a16:creationId xmlns:a16="http://schemas.microsoft.com/office/drawing/2014/main" id="{720A45F1-7C63-4B13-BF24-71273E76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平台服务三类用户，汇集四类成果</a:t>
            </a:r>
          </a:p>
        </p:txBody>
      </p:sp>
      <p:sp>
        <p:nvSpPr>
          <p:cNvPr id="2" name="text-15">
            <a:extLst xmlns:a="http://schemas.openxmlformats.org/drawingml/2006/main">
              <a:ext uri="{FF2B5EF4-FFF2-40B4-BE49-F238E27FC236}">
                <a16:creationId xmlns:a16="http://schemas.microsoft.com/office/drawing/2014/main" id="{08D1E373-C317-4F12-9559-DCE2A12B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16">
            <a:extLst xmlns:a="http://schemas.openxmlformats.org/drawingml/2006/main">
              <a:ext uri="{FF2B5EF4-FFF2-40B4-BE49-F238E27FC236}">
                <a16:creationId xmlns:a16="http://schemas.microsoft.com/office/drawing/2014/main" id="{CEDF6582-9AB5-42B5-B9E7-10DF7086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四类成果</a:t>
            </a:r>
          </a:p>
        </p:txBody>
      </p:sp>
      <p:sp>
        <p:nvSpPr>
          <p:cNvPr id="4" name="text-17">
            <a:extLst xmlns:a="http://schemas.openxmlformats.org/drawingml/2006/main">
              <a:ext uri="{FF2B5EF4-FFF2-40B4-BE49-F238E27FC236}">
                <a16:creationId xmlns:a16="http://schemas.microsoft.com/office/drawing/2014/main" id="{B1EF0A01-58F3-41A6-9044-2F463CD2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571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论文</a:t>
            </a:r>
          </a:p>
          <a:p xmlns:a="http://schemas.openxmlformats.org/drawingml/2006/main">
            <a:pPr algn="l">
              <a:defRPr sz="24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专利</a:t>
            </a:r>
          </a:p>
          <a:p xmlns:a="http://schemas.openxmlformats.org/drawingml/2006/main">
            <a:pPr algn="l">
              <a:defRPr sz="24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科研项目</a:t>
            </a:r>
          </a:p>
          <a:p xmlns:a="http://schemas.openxmlformats.org/drawingml/2006/main">
            <a:pPr algn="l">
              <a:defRPr sz="24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获奖</a:t>
            </a:r>
          </a:p>
        </p:txBody>
      </p:sp>
      <p:sp>
        <p:nvSpPr>
          <p:cNvPr id="5" name="学术成果分享平台  检索与筛选 学者门户 统计分析">
            <a:extLst xmlns:a="http://schemas.openxmlformats.org/drawingml/2006/main">
              <a:ext uri="{FF2B5EF4-FFF2-40B4-BE49-F238E27FC236}">
                <a16:creationId xmlns:a16="http://schemas.microsoft.com/office/drawing/2014/main" id="{12A36907-E5EE-4DC8-9992-97321002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52650"/>
            <a:ext cx="33337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B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学术成果分享平台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2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检索与筛选</a:t>
            </a:r>
          </a:p>
          <a:p xmlns:a="http://schemas.openxmlformats.org/drawingml/2006/main">
            <a:pPr algn="ctr">
              <a:defRPr sz="22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学者门户</a:t>
            </a:r>
          </a:p>
          <a:p xmlns:a="http://schemas.openxmlformats.org/drawingml/2006/main">
            <a:pPr algn="ctr">
              <a:defRPr sz="22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统计分析</a:t>
            </a:r>
          </a:p>
        </p:txBody>
      </p:sp>
      <p:cxnSp>
        <p:nvCxnSpPr>
          <p:cNvPr id="6" name="edge-18">
            <a:extLst xmlns:a="http://schemas.openxmlformats.org/drawingml/2006/main">
              <a:ext uri="{FF2B5EF4-FFF2-40B4-BE49-F238E27FC236}">
                <a16:creationId xmlns:a16="http://schemas.microsoft.com/office/drawing/2014/main" id="{671B94E1-B5A4-4EF2-AB80-E0BCB24DF8EC}"/>
              </a:ext>
            </a:extLst>
          </p:cNvPr>
          <p:cNvCxnSpPr/>
          <p:nvPr/>
        </p:nvCxnSpPr>
        <p:spPr>
          <a:xfrm xmlns:a="http://schemas.openxmlformats.org/drawingml/2006/main" rot="0">
            <a:off x="2524125" y="3571875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cxnSp>
        <p:nvCxnSpPr>
          <p:cNvPr id="7" name="edge-19">
            <a:extLst xmlns:a="http://schemas.openxmlformats.org/drawingml/2006/main">
              <a:ext uri="{FF2B5EF4-FFF2-40B4-BE49-F238E27FC236}">
                <a16:creationId xmlns:a16="http://schemas.microsoft.com/office/drawing/2014/main" id="{606C12AF-B7D8-476D-9135-79B726C0A86E}"/>
              </a:ext>
            </a:extLst>
          </p:cNvPr>
          <p:cNvCxnSpPr/>
          <p:nvPr/>
        </p:nvCxnSpPr>
        <p:spPr>
          <a:xfrm xmlns:a="http://schemas.openxmlformats.org/drawingml/2006/main" rot="0">
            <a:off x="7219950" y="35718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8" name="edge-20">
            <a:extLst xmlns:a="http://schemas.openxmlformats.org/drawingml/2006/main">
              <a:ext uri="{FF2B5EF4-FFF2-40B4-BE49-F238E27FC236}">
                <a16:creationId xmlns:a16="http://schemas.microsoft.com/office/drawing/2014/main" id="{315F422A-EF7A-4593-A318-98EA9A114B5D}"/>
              </a:ext>
            </a:extLst>
          </p:cNvPr>
          <p:cNvCxnSpPr/>
          <p:nvPr/>
        </p:nvCxnSpPr>
        <p:spPr>
          <a:xfrm xmlns:a="http://schemas.openxmlformats.org/drawingml/2006/main" rot="0">
            <a:off x="7858125" y="2152650"/>
            <a:ext cx="0" cy="2819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9" name="edge-21">
            <a:extLst xmlns:a="http://schemas.openxmlformats.org/drawingml/2006/main">
              <a:ext uri="{FF2B5EF4-FFF2-40B4-BE49-F238E27FC236}">
                <a16:creationId xmlns:a16="http://schemas.microsoft.com/office/drawing/2014/main" id="{BBFC9420-BCB9-412D-925B-A563C7AC30B2}"/>
              </a:ext>
            </a:extLst>
          </p:cNvPr>
          <p:cNvCxnSpPr/>
          <p:nvPr/>
        </p:nvCxnSpPr>
        <p:spPr>
          <a:xfrm xmlns:a="http://schemas.openxmlformats.org/drawingml/2006/main" rot="0">
            <a:off x="7858125" y="21526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cxnSp>
        <p:nvCxnSpPr>
          <p:cNvPr id="10" name="edge-22">
            <a:extLst xmlns:a="http://schemas.openxmlformats.org/drawingml/2006/main">
              <a:ext uri="{FF2B5EF4-FFF2-40B4-BE49-F238E27FC236}">
                <a16:creationId xmlns:a16="http://schemas.microsoft.com/office/drawing/2014/main" id="{869A2841-C8F7-413E-891C-62341B1B2EFC}"/>
              </a:ext>
            </a:extLst>
          </p:cNvPr>
          <p:cNvCxnSpPr/>
          <p:nvPr/>
        </p:nvCxnSpPr>
        <p:spPr>
          <a:xfrm xmlns:a="http://schemas.openxmlformats.org/drawingml/2006/main" rot="0">
            <a:off x="7858125" y="357187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cxnSp>
        <p:nvCxnSpPr>
          <p:cNvPr id="11" name="edge-23">
            <a:extLst xmlns:a="http://schemas.openxmlformats.org/drawingml/2006/main">
              <a:ext uri="{FF2B5EF4-FFF2-40B4-BE49-F238E27FC236}">
                <a16:creationId xmlns:a16="http://schemas.microsoft.com/office/drawing/2014/main" id="{5DEC2214-6F49-4CC4-B817-6B9257FA3FA8}"/>
              </a:ext>
            </a:extLst>
          </p:cNvPr>
          <p:cNvCxnSpPr/>
          <p:nvPr/>
        </p:nvCxnSpPr>
        <p:spPr>
          <a:xfrm xmlns:a="http://schemas.openxmlformats.org/drawingml/2006/main" rot="0">
            <a:off x="7858125" y="49720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12" name="text-24">
            <a:extLst xmlns:a="http://schemas.openxmlformats.org/drawingml/2006/main">
              <a:ext uri="{FF2B5EF4-FFF2-40B4-BE49-F238E27FC236}">
                <a16:creationId xmlns:a16="http://schemas.microsoft.com/office/drawing/2014/main" id="{CD5B5FA1-8A17-48F0-BAC7-85C7C67B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733550"/>
            <a:ext cx="2724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普通用户</a:t>
            </a:r>
          </a:p>
        </p:txBody>
      </p:sp>
      <p:sp>
        <p:nvSpPr>
          <p:cNvPr id="13" name="text-25">
            <a:extLst xmlns:a="http://schemas.openxmlformats.org/drawingml/2006/main">
              <a:ext uri="{FF2B5EF4-FFF2-40B4-BE49-F238E27FC236}">
                <a16:creationId xmlns:a16="http://schemas.microsoft.com/office/drawing/2014/main" id="{2073C1CF-65C8-4763-81B9-92D95EC7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0980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查成果、找学者</a:t>
            </a:r>
          </a:p>
        </p:txBody>
      </p:sp>
      <p:sp>
        <p:nvSpPr>
          <p:cNvPr id="14" name="text-26">
            <a:extLst xmlns:a="http://schemas.openxmlformats.org/drawingml/2006/main">
              <a:ext uri="{FF2B5EF4-FFF2-40B4-BE49-F238E27FC236}">
                <a16:creationId xmlns:a16="http://schemas.microsoft.com/office/drawing/2014/main" id="{212688D0-D682-4F88-96FB-DA75886E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52775"/>
            <a:ext cx="2724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科研人员</a:t>
            </a:r>
          </a:p>
        </p:txBody>
      </p:sp>
      <p:sp>
        <p:nvSpPr>
          <p:cNvPr id="15" name="text-27">
            <a:extLst xmlns:a="http://schemas.openxmlformats.org/drawingml/2006/main">
              <a:ext uri="{FF2B5EF4-FFF2-40B4-BE49-F238E27FC236}">
                <a16:creationId xmlns:a16="http://schemas.microsoft.com/office/drawing/2014/main" id="{B7C91B6E-CC53-4C6F-964E-0ED0F0E8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629025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认领并维护本人门户</a:t>
            </a:r>
          </a:p>
        </p:txBody>
      </p:sp>
      <p:sp>
        <p:nvSpPr>
          <p:cNvPr id="16" name="text-28">
            <a:extLst xmlns:a="http://schemas.openxmlformats.org/drawingml/2006/main">
              <a:ext uri="{FF2B5EF4-FFF2-40B4-BE49-F238E27FC236}">
                <a16:creationId xmlns:a16="http://schemas.microsoft.com/office/drawing/2014/main" id="{7E48A43C-C468-4068-8A7E-DF696C12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552950"/>
            <a:ext cx="27241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BF50D616-80BE-4E6F-9558-B4661FD7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0292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采集、审核与数据治理</a:t>
            </a:r>
          </a:p>
        </p:txBody>
      </p:sp>
      <p:sp>
        <p:nvSpPr>
          <p:cNvPr id="18" name="text-30">
            <a:extLst xmlns:a="http://schemas.openxmlformats.org/drawingml/2006/main">
              <a:ext uri="{FF2B5EF4-FFF2-40B4-BE49-F238E27FC236}">
                <a16:creationId xmlns:a16="http://schemas.microsoft.com/office/drawing/2014/main" id="{C90D7915-5CDF-405B-AE90-AF216C3D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统计内容包括机构成果排名、领域热点与合作关系，并说明数据范围。</a:t>
            </a:r>
          </a:p>
        </p:txBody>
      </p:sp>
    </p:spTree>
    <p:extLst>
      <p:ext uri="{BB962C8B-B14F-4D97-AF65-F5344CB8AC3E}">
        <p14:creationId xmlns:p14="http://schemas.microsoft.com/office/powerpoint/2010/main" val="1185430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31">
            <a:extLst xmlns:a="http://schemas.openxmlformats.org/drawingml/2006/main">
              <a:ext uri="{FF2B5EF4-FFF2-40B4-BE49-F238E27FC236}">
                <a16:creationId xmlns:a16="http://schemas.microsoft.com/office/drawing/2014/main" id="{BE3BAA87-0D96-4D67-A391-F9392738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调研目标与实际执行</a:t>
            </a:r>
          </a:p>
        </p:txBody>
      </p:sp>
      <p:sp>
        <p:nvSpPr>
          <p:cNvPr id="2" name="text-32">
            <a:extLst xmlns:a="http://schemas.openxmlformats.org/drawingml/2006/main">
              <a:ext uri="{FF2B5EF4-FFF2-40B4-BE49-F238E27FC236}">
                <a16:creationId xmlns:a16="http://schemas.microsoft.com/office/drawing/2014/main" id="{479AB779-09F0-4EE5-975B-F892BF2E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-33">
            <a:extLst xmlns:a="http://schemas.openxmlformats.org/drawingml/2006/main">
              <a:ext uri="{FF2B5EF4-FFF2-40B4-BE49-F238E27FC236}">
                <a16:creationId xmlns:a16="http://schemas.microsoft.com/office/drawing/2014/main" id="{A2ED78CB-ECB3-441B-9D9D-4AD0CEDF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目标：明确用户任务、数据来源和可验收的需求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D99C0-5502-4529-8705-E53E92F8D3D1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3650"/>
                <a:gridCol w="5676900"/>
                <a:gridCol w="2762250"/>
              </a:tblGrid>
              <a:tr h="5048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调研方法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T w="6668">
                      <a:solidFill>
                        <a:srgbClr val="C7D2CB"/>
                      </a:solidFill>
                    </a:lnT>
                    <a:lnB w="6668">
                      <a:solidFill>
                        <a:srgbClr val="C7D2CB"/>
                      </a:solidFill>
                    </a:lnB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实际工作与产出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T w="6668">
                      <a:solidFill>
                        <a:srgbClr val="C7D2CB"/>
                      </a:solidFill>
                    </a:lnT>
                    <a:lnB w="6668">
                      <a:solidFill>
                        <a:srgbClr val="C7D2CB"/>
                      </a:solidFill>
                    </a:lnB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T w="6668">
                      <a:solidFill>
                        <a:srgbClr val="C7D2CB"/>
                      </a:solidFill>
                    </a:lnT>
                    <a:lnB w="6668">
                      <a:solidFill>
                        <a:srgbClr val="C7D2CB"/>
                      </a:solidFill>
                    </a:lnB>
                    <a:solidFill>
                      <a:srgbClr val="E8F1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资料与同类平台分析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课程任务与官方说明</a:t>
                      </a:r>
                    </a:p>
                    <a:p>
                      <a:r>
                        <a:rPr sz="1875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OpenAlex、DBLP、ORCID比较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已整理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公开用户研究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DBLP问卷汇总、NC State公开访谈报告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已整理二手证据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论文接口检查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OpenAlex与DBLP的小样本请求和响应记录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已执行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三类角色访谈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访谈提纲、问卷与记录表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已设计，待执行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4">
            <a:extLst xmlns:a="http://schemas.openxmlformats.org/drawingml/2006/main">
              <a:ext uri="{FF2B5EF4-FFF2-40B4-BE49-F238E27FC236}">
                <a16:creationId xmlns:a16="http://schemas.microsoft.com/office/drawing/2014/main" id="{AD2B6940-7FD5-44BB-84E7-FF955492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10月12日形成初稿，13日修订与预提交，研讨后补充验证。</a:t>
            </a:r>
          </a:p>
        </p:txBody>
      </p:sp>
    </p:spTree>
    <p:extLst>
      <p:ext uri="{BB962C8B-B14F-4D97-AF65-F5344CB8AC3E}">
        <p14:creationId xmlns:p14="http://schemas.microsoft.com/office/powerpoint/2010/main" val="1460696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35">
            <a:extLst xmlns:a="http://schemas.openxmlformats.org/drawingml/2006/main">
              <a:ext uri="{FF2B5EF4-FFF2-40B4-BE49-F238E27FC236}">
                <a16:creationId xmlns:a16="http://schemas.microsoft.com/office/drawing/2014/main" id="{CF829C11-3B21-4358-A213-C815F626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三类用户的核心诉求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469BF1A3-6872-43F4-B794-F46D8156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EE01D697-8352-4B45-9C54-D3EF6D3B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公开研究的启示：按学者查成果，以及理解检索结果的排序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2D930-7469-4AED-87F8-0C08E30C9CF9}"/>
              </a:ext>
            </a:extLst>
          </p:cNvPr>
          <p:cNvGraphicFramePr/>
          <p:nvPr/>
        </p:nvGraphicFramePr>
        <p:xfrm>
          <a:off xmlns:a="http://schemas.openxmlformats.org/drawingml/2006/main" x="609600" y="2181225"/>
          <a:ext xmlns:a="http://schemas.openxmlformats.org/drawingml/2006/main" cx="109728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762375"/>
                <a:gridCol w="5400675"/>
              </a:tblGrid>
              <a:tr h="504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T w="6668">
                      <a:solidFill>
                        <a:srgbClr val="C7D2CB"/>
                      </a:solidFill>
                    </a:lnT>
                    <a:lnB w="6668">
                      <a:solidFill>
                        <a:srgbClr val="C7D2CB"/>
                      </a:solidFill>
                    </a:lnB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核心诉求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T w="6668">
                      <a:solidFill>
                        <a:srgbClr val="C7D2CB"/>
                      </a:solidFill>
                    </a:lnT>
                    <a:lnB w="6668">
                      <a:solidFill>
                        <a:srgbClr val="C7D2CB"/>
                      </a:solidFill>
                    </a:lnB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对应需求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T w="6668">
                      <a:solidFill>
                        <a:srgbClr val="C7D2CB"/>
                      </a:solidFill>
                    </a:lnT>
                    <a:lnB w="6668">
                      <a:solidFill>
                        <a:srgbClr val="C7D2CB"/>
                      </a:solidFill>
                    </a:lnB>
                    <a:solidFill>
                      <a:srgbClr val="E8F1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普通用户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找到相关成果</a:t>
                      </a:r>
                    </a:p>
                    <a:p>
                      <a:r>
                        <a:rPr sz="195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分清同名学者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成果／学者检索、条件筛选</a:t>
                      </a:r>
                    </a:p>
                    <a:p>
                      <a:r>
                        <a:rPr sz="195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显示来源，进入独立学者门户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科研人员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认领本人门户</a:t>
                      </a:r>
                    </a:p>
                    <a:p>
                      <a:r>
                        <a:rPr sz="195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纠正展示与归属错误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先验证身份，再审核认领</a:t>
                      </a:r>
                    </a:p>
                    <a:p>
                      <a:r>
                        <a:rPr sz="195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通过后维护本人展示、申请纠错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管理员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采集稳定、错误可处理</a:t>
                      </a:r>
                    </a:p>
                    <a:p>
                      <a:r>
                        <a:rPr sz="195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审核有证据、决定可追溯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查看采集进度与失败原因</a:t>
                      </a:r>
                    </a:p>
                    <a:p>
                      <a:r>
                        <a:rPr sz="195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复核认领和数据冲突，记录理由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8">
            <a:extLst xmlns:a="http://schemas.openxmlformats.org/drawingml/2006/main">
              <a:ext uri="{FF2B5EF4-FFF2-40B4-BE49-F238E27FC236}">
                <a16:creationId xmlns:a16="http://schemas.microsoft.com/office/drawing/2014/main" id="{39DE5060-F578-4000-BF72-AB202692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依据为课程任务、DBLP调查与NC State公开研究；本校用户和管理员诉求仍待访谈验证。</a:t>
            </a:r>
          </a:p>
        </p:txBody>
      </p:sp>
    </p:spTree>
    <p:extLst>
      <p:ext uri="{BB962C8B-B14F-4D97-AF65-F5344CB8AC3E}">
        <p14:creationId xmlns:p14="http://schemas.microsoft.com/office/powerpoint/2010/main" val="20611534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39">
            <a:extLst xmlns:a="http://schemas.openxmlformats.org/drawingml/2006/main">
              <a:ext uri="{FF2B5EF4-FFF2-40B4-BE49-F238E27FC236}">
                <a16:creationId xmlns:a16="http://schemas.microsoft.com/office/drawing/2014/main" id="{331D4090-E9AA-4C7E-ABE4-A4031361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四类成果的数据来源与分类方案</a:t>
            </a:r>
          </a:p>
        </p:txBody>
      </p:sp>
      <p:sp>
        <p:nvSpPr>
          <p:cNvPr id="2" name="text-40">
            <a:extLst xmlns:a="http://schemas.openxmlformats.org/drawingml/2006/main">
              <a:ext uri="{FF2B5EF4-FFF2-40B4-BE49-F238E27FC236}">
                <a16:creationId xmlns:a16="http://schemas.microsoft.com/office/drawing/2014/main" id="{A408E1A2-A58D-4E71-91AF-AA8C239A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10899-B2AF-4397-84B9-C02F3CA5CF33}"/>
              </a:ext>
            </a:extLst>
          </p:cNvPr>
          <p:cNvGraphicFramePr/>
          <p:nvPr/>
        </p:nvGraphicFramePr>
        <p:xfrm>
          <a:off xmlns:a="http://schemas.openxmlformats.org/drawingml/2006/main" x="609600" y="1514475"/>
          <a:ext xmlns:a="http://schemas.openxmlformats.org/drawingml/2006/main" cx="10972800" cy="3228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3409950"/>
                <a:gridCol w="5943600"/>
              </a:tblGrid>
              <a:tr h="5048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成果类型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T w="6668">
                      <a:solidFill>
                        <a:srgbClr val="C7D2CB"/>
                      </a:solidFill>
                    </a:lnT>
                    <a:lnB w="6668">
                      <a:solidFill>
                        <a:srgbClr val="C7D2CB"/>
                      </a:solidFill>
                    </a:lnB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候选来源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T w="6668">
                      <a:solidFill>
                        <a:srgbClr val="C7D2CB"/>
                      </a:solidFill>
                    </a:lnT>
                    <a:lnB w="6668">
                      <a:solidFill>
                        <a:srgbClr val="C7D2CB"/>
                      </a:solidFill>
                    </a:lnB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本轮结论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T w="6668">
                      <a:solidFill>
                        <a:srgbClr val="C7D2CB"/>
                      </a:solidFill>
                    </a:lnT>
                    <a:lnB w="6668">
                      <a:solidFill>
                        <a:srgbClr val="C7D2CB"/>
                      </a:solidFill>
                    </a:lnB>
                    <a:solidFill>
                      <a:srgbClr val="E8F1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OpenAlex、DBLP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OpenAlex返回3条记录</a:t>
                      </a:r>
                    </a:p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DBLP本次响应无法按JSON解析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专利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国家知识产权局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入口已确认，字段与获取方式待验证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科研项目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国家自然科学基金委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入口已确认，批准号映射与许可待核对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获奖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科技部公开目录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入口已确认，年度字段与更新方式待核对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41">
            <a:extLst xmlns:a="http://schemas.openxmlformats.org/drawingml/2006/main">
              <a:ext uri="{FF2B5EF4-FFF2-40B4-BE49-F238E27FC236}">
                <a16:creationId xmlns:a16="http://schemas.microsoft.com/office/drawing/2014/main" id="{0CEC96CB-0444-496B-A0FA-32FC71B1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本地领域分类</a:t>
            </a:r>
          </a:p>
        </p:txBody>
      </p:sp>
      <p:sp>
        <p:nvSpPr>
          <p:cNvPr id="5" name="text-42">
            <a:extLst xmlns:a="http://schemas.openxmlformats.org/drawingml/2006/main">
              <a:ext uri="{FF2B5EF4-FFF2-40B4-BE49-F238E27FC236}">
                <a16:creationId xmlns:a16="http://schemas.microsoft.com/office/drawing/2014/main" id="{6162F15E-0798-4B46-9E1C-A0BD69CA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010150"/>
            <a:ext cx="8629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软件工程、人工智能、网络与信息安全、数据管理</a:t>
            </a:r>
          </a:p>
        </p:txBody>
      </p:sp>
      <p:sp>
        <p:nvSpPr>
          <p:cNvPr id="6" name="text-43">
            <a:extLst xmlns:a="http://schemas.openxmlformats.org/drawingml/2006/main">
              <a:ext uri="{FF2B5EF4-FFF2-40B4-BE49-F238E27FC236}">
                <a16:creationId xmlns:a16="http://schemas.microsoft.com/office/drawing/2014/main" id="{9C55E7AF-DEDE-42B3-9C0E-BCEC3B8E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476875"/>
            <a:ext cx="8629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允许多领域归属，未知进入“未分类”；参考分类映射待完善。</a:t>
            </a:r>
          </a:p>
        </p:txBody>
      </p:sp>
      <p:sp>
        <p:nvSpPr>
          <p:cNvPr id="7" name="text-44">
            <a:extLst xmlns:a="http://schemas.openxmlformats.org/drawingml/2006/main">
              <a:ext uri="{FF2B5EF4-FFF2-40B4-BE49-F238E27FC236}">
                <a16:creationId xmlns:a16="http://schemas.microsoft.com/office/drawing/2014/main" id="{EB514BBC-B479-4BD7-B364-2080383C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采集边界：仅使用公开或获许可的数据，保留来源，不采集收费全文。</a:t>
            </a:r>
          </a:p>
        </p:txBody>
      </p:sp>
    </p:spTree>
    <p:extLst>
      <p:ext uri="{BB962C8B-B14F-4D97-AF65-F5344CB8AC3E}">
        <p14:creationId xmlns:p14="http://schemas.microsoft.com/office/powerpoint/2010/main" val="6613148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45">
            <a:extLst xmlns:a="http://schemas.openxmlformats.org/drawingml/2006/main">
              <a:ext uri="{FF2B5EF4-FFF2-40B4-BE49-F238E27FC236}">
                <a16:creationId xmlns:a16="http://schemas.microsoft.com/office/drawing/2014/main" id="{FC71D53D-3B27-4499-9BF5-27F7AF15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一期范围与实现顺序</a:t>
            </a:r>
          </a:p>
        </p:txBody>
      </p:sp>
      <p:sp>
        <p:nvSpPr>
          <p:cNvPr id="2" name="text-46">
            <a:extLst xmlns:a="http://schemas.openxmlformats.org/drawingml/2006/main">
              <a:ext uri="{FF2B5EF4-FFF2-40B4-BE49-F238E27FC236}">
                <a16:creationId xmlns:a16="http://schemas.microsoft.com/office/drawing/2014/main" id="{015FD732-C68C-42E2-8EC1-3E028355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-47">
            <a:extLst xmlns:a="http://schemas.openxmlformats.org/drawingml/2006/main">
              <a:ext uri="{FF2B5EF4-FFF2-40B4-BE49-F238E27FC236}">
                <a16:creationId xmlns:a16="http://schemas.microsoft.com/office/drawing/2014/main" id="{7B665239-A233-4D87-A187-9CD448E8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P0 先完成核心业务</a:t>
            </a:r>
          </a:p>
        </p:txBody>
      </p:sp>
      <p:sp>
        <p:nvSpPr>
          <p:cNvPr id="4" name="text-48">
            <a:extLst xmlns:a="http://schemas.openxmlformats.org/drawingml/2006/main">
              <a:ext uri="{FF2B5EF4-FFF2-40B4-BE49-F238E27FC236}">
                <a16:creationId xmlns:a16="http://schemas.microsoft.com/office/drawing/2014/main" id="{E6459587-F27C-4EB9-97FE-7CE89179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5962650" cy="2657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采集与更新、清洗、去重与分类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成果／学者检索与个人门户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认领审核、成果维护与统计</a:t>
            </a:r>
          </a:p>
        </p:txBody>
      </p:sp>
      <p:sp>
        <p:nvSpPr>
          <p:cNvPr id="5" name="text-49">
            <a:extLst xmlns:a="http://schemas.openxmlformats.org/drawingml/2006/main">
              <a:ext uri="{FF2B5EF4-FFF2-40B4-BE49-F238E27FC236}">
                <a16:creationId xmlns:a16="http://schemas.microsoft.com/office/drawing/2014/main" id="{A5749C77-47BE-4A48-8D66-585D0272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57350"/>
            <a:ext cx="4676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P1 再实现合作路径分析</a:t>
            </a:r>
          </a:p>
        </p:txBody>
      </p:sp>
      <p:sp>
        <p:nvSpPr>
          <p:cNvPr id="6" name="text-50">
            <a:extLst xmlns:a="http://schemas.openxmlformats.org/drawingml/2006/main">
              <a:ext uri="{FF2B5EF4-FFF2-40B4-BE49-F238E27FC236}">
                <a16:creationId xmlns:a16="http://schemas.microsoft.com/office/drawing/2014/main" id="{95FCB217-021C-4E27-85C7-21ACC374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46767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按年份、领域、机构筛选</a:t>
            </a:r>
          </a:p>
          <a:p xmlns:a="http://schemas.openxmlformats.org/drawingml/2006/main">
            <a:pPr algn="l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查询两位学者的最短合作路径</a:t>
            </a:r>
          </a:p>
        </p:txBody>
      </p:sp>
      <p:sp>
        <p:nvSpPr>
          <p:cNvPr id="7" name="学者甲">
            <a:extLst xmlns:a="http://schemas.openxmlformats.org/drawingml/2006/main">
              <a:ext uri="{FF2B5EF4-FFF2-40B4-BE49-F238E27FC236}">
                <a16:creationId xmlns:a16="http://schemas.microsoft.com/office/drawing/2014/main" id="{37E3FB28-7104-48B3-BF07-BACDAFC9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62300"/>
            <a:ext cx="1190625" cy="752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学者甲</a:t>
            </a:r>
          </a:p>
        </p:txBody>
      </p:sp>
      <p:sp>
        <p:nvSpPr>
          <p:cNvPr id="8" name="学者乙">
            <a:extLst xmlns:a="http://schemas.openxmlformats.org/drawingml/2006/main">
              <a:ext uri="{FF2B5EF4-FFF2-40B4-BE49-F238E27FC236}">
                <a16:creationId xmlns:a16="http://schemas.microsoft.com/office/drawing/2014/main" id="{E11A7EE3-DEEE-4ECC-A17E-DB53E8D9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62300"/>
            <a:ext cx="1190625" cy="752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学者乙</a:t>
            </a:r>
          </a:p>
        </p:txBody>
      </p:sp>
      <p:sp>
        <p:nvSpPr>
          <p:cNvPr id="9" name="学者丙">
            <a:extLst xmlns:a="http://schemas.openxmlformats.org/drawingml/2006/main">
              <a:ext uri="{FF2B5EF4-FFF2-40B4-BE49-F238E27FC236}">
                <a16:creationId xmlns:a16="http://schemas.microsoft.com/office/drawing/2014/main" id="{019D8BC5-821D-4EF7-B3C5-0B3C1B51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162300"/>
            <a:ext cx="1190625" cy="7524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学者丙</a:t>
            </a:r>
          </a:p>
        </p:txBody>
      </p:sp>
      <p:cxnSp>
        <p:nvCxnSpPr>
          <p:cNvPr id="10" name="edge-51">
            <a:extLst xmlns:a="http://schemas.openxmlformats.org/drawingml/2006/main">
              <a:ext uri="{FF2B5EF4-FFF2-40B4-BE49-F238E27FC236}">
                <a16:creationId xmlns:a16="http://schemas.microsoft.com/office/drawing/2014/main" id="{B52C3171-4532-451F-80EC-C0B8F4EA00AC}"/>
              </a:ext>
            </a:extLst>
          </p:cNvPr>
          <p:cNvCxnSpPr/>
          <p:nvPr/>
        </p:nvCxnSpPr>
        <p:spPr>
          <a:xfrm xmlns:a="http://schemas.openxmlformats.org/drawingml/2006/main" rot="0">
            <a:off x="8077200" y="35433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11" name="edge-52">
            <a:extLst xmlns:a="http://schemas.openxmlformats.org/drawingml/2006/main">
              <a:ext uri="{FF2B5EF4-FFF2-40B4-BE49-F238E27FC236}">
                <a16:creationId xmlns:a16="http://schemas.microsoft.com/office/drawing/2014/main" id="{1EC166A6-69E0-4EE6-BF13-0B9813F12D31}"/>
              </a:ext>
            </a:extLst>
          </p:cNvPr>
          <p:cNvCxnSpPr/>
          <p:nvPr/>
        </p:nvCxnSpPr>
        <p:spPr>
          <a:xfrm xmlns:a="http://schemas.openxmlformats.org/drawingml/2006/main" rot="0">
            <a:off x="9782175" y="35433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sp>
        <p:nvSpPr>
          <p:cNvPr id="12" name="text-53">
            <a:extLst xmlns:a="http://schemas.openxmlformats.org/drawingml/2006/main">
              <a:ext uri="{FF2B5EF4-FFF2-40B4-BE49-F238E27FC236}">
                <a16:creationId xmlns:a16="http://schemas.microsoft.com/office/drawing/2014/main" id="{CEB60328-36D3-47F6-B774-0D8F6389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02907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论文1</a:t>
            </a:r>
          </a:p>
        </p:txBody>
      </p:sp>
      <p:sp>
        <p:nvSpPr>
          <p:cNvPr id="13" name="text-54">
            <a:extLst xmlns:a="http://schemas.openxmlformats.org/drawingml/2006/main">
              <a:ext uri="{FF2B5EF4-FFF2-40B4-BE49-F238E27FC236}">
                <a16:creationId xmlns:a16="http://schemas.microsoft.com/office/drawing/2014/main" id="{594442E3-267F-4783-89D2-045CCEE2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29075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论文2</a:t>
            </a:r>
          </a:p>
        </p:txBody>
      </p:sp>
      <p:sp>
        <p:nvSpPr>
          <p:cNvPr id="14" name="text-55">
            <a:extLst xmlns:a="http://schemas.openxmlformats.org/drawingml/2006/main">
              <a:ext uri="{FF2B5EF4-FFF2-40B4-BE49-F238E27FC236}">
                <a16:creationId xmlns:a16="http://schemas.microsoft.com/office/drawing/2014/main" id="{A01CE9D2-8BE7-4CD3-BF44-8828A823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05350"/>
            <a:ext cx="4676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每条合作关系都能查看合著论文依据</a:t>
            </a:r>
          </a:p>
        </p:txBody>
      </p:sp>
      <p:sp>
        <p:nvSpPr>
          <p:cNvPr id="15" name="text-56">
            <a:extLst xmlns:a="http://schemas.openxmlformats.org/drawingml/2006/main">
              <a:ext uri="{FF2B5EF4-FFF2-40B4-BE49-F238E27FC236}">
                <a16:creationId xmlns:a16="http://schemas.microsoft.com/office/drawing/2014/main" id="{AAF66D01-8A6C-4D88-AFCD-EB53CE13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9275"/>
            <a:ext cx="4676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示意关系。P1纳入本组最终交付。</a:t>
            </a:r>
          </a:p>
        </p:txBody>
      </p:sp>
      <p:sp>
        <p:nvSpPr>
          <p:cNvPr id="16" name="text-57">
            <a:extLst xmlns:a="http://schemas.openxmlformats.org/drawingml/2006/main">
              <a:ext uri="{FF2B5EF4-FFF2-40B4-BE49-F238E27FC236}">
                <a16:creationId xmlns:a16="http://schemas.microsoft.com/office/drawing/2014/main" id="{F0D14213-40D6-43BB-A4D3-EC2CE482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一期暂不包括：收费全文、成果交易、专利转让与社交私信。</a:t>
            </a:r>
          </a:p>
        </p:txBody>
      </p:sp>
    </p:spTree>
    <p:extLst>
      <p:ext uri="{BB962C8B-B14F-4D97-AF65-F5344CB8AC3E}">
        <p14:creationId xmlns:p14="http://schemas.microsoft.com/office/powerpoint/2010/main" val="188909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-58">
            <a:extLst xmlns:a="http://schemas.openxmlformats.org/drawingml/2006/main">
              <a:ext uri="{FF2B5EF4-FFF2-40B4-BE49-F238E27FC236}">
                <a16:creationId xmlns:a16="http://schemas.microsoft.com/office/drawing/2014/main" id="{D9646552-1911-4391-8563-9E4EC036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用例图：谁能使用哪些功能</a:t>
            </a:r>
          </a:p>
        </p:txBody>
      </p:sp>
      <p:sp>
        <p:nvSpPr>
          <p:cNvPr id="2" name="text-59">
            <a:extLst xmlns:a="http://schemas.openxmlformats.org/drawingml/2006/main">
              <a:ext uri="{FF2B5EF4-FFF2-40B4-BE49-F238E27FC236}">
                <a16:creationId xmlns:a16="http://schemas.microsoft.com/office/drawing/2014/main" id="{7879A59E-4D91-4D8F-BF17-8AF46330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system-boundary">
            <a:extLst xmlns:a="http://schemas.openxmlformats.org/drawingml/2006/main">
              <a:ext uri="{FF2B5EF4-FFF2-40B4-BE49-F238E27FC236}">
                <a16:creationId xmlns:a16="http://schemas.microsoft.com/office/drawing/2014/main" id="{862B1DFC-617D-468F-B485-ECDE8B06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76400"/>
            <a:ext cx="74295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7D2CB"/>
            </a:solidFill>
          </a:ln>
        </p:spPr>
      </p:sp>
      <p:sp>
        <p:nvSpPr>
          <p:cNvPr id="4" name="text-60">
            <a:extLst xmlns:a="http://schemas.openxmlformats.org/drawingml/2006/main">
              <a:ext uri="{FF2B5EF4-FFF2-40B4-BE49-F238E27FC236}">
                <a16:creationId xmlns:a16="http://schemas.microsoft.com/office/drawing/2014/main" id="{BB516847-EE6F-4963-BC25-620E8F97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7165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学术成果分享平台</a:t>
            </a:r>
          </a:p>
        </p:txBody>
      </p:sp>
      <p:sp>
        <p:nvSpPr>
          <p:cNvPr id="5" name="«actor» 普通用户">
            <a:extLst xmlns:a="http://schemas.openxmlformats.org/drawingml/2006/main">
              <a:ext uri="{FF2B5EF4-FFF2-40B4-BE49-F238E27FC236}">
                <a16:creationId xmlns:a16="http://schemas.microsoft.com/office/drawing/2014/main" id="{33864D60-1A2B-4F47-8830-845E8E9E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504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«actor»</a:t>
            </a:r>
          </a:p>
          <a:p xmlns:a="http://schemas.openxmlformats.org/drawingml/2006/main">
            <a:pPr algn="ctr">
              <a:def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普通用户</a:t>
            </a:r>
          </a:p>
        </p:txBody>
      </p:sp>
      <p:sp>
        <p:nvSpPr>
          <p:cNvPr id="6" name="«actor» 科研人员">
            <a:extLst xmlns:a="http://schemas.openxmlformats.org/drawingml/2006/main">
              <a:ext uri="{FF2B5EF4-FFF2-40B4-BE49-F238E27FC236}">
                <a16:creationId xmlns:a16="http://schemas.microsoft.com/office/drawing/2014/main" id="{BE788925-8BEA-40E1-A32D-CC8DFA9B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504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«actor»</a:t>
            </a:r>
          </a:p>
          <a:p xmlns:a="http://schemas.openxmlformats.org/drawingml/2006/main">
            <a:pPr algn="ctr">
              <a:def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科研人员</a:t>
            </a:r>
          </a:p>
        </p:txBody>
      </p:sp>
      <p:sp>
        <p:nvSpPr>
          <p:cNvPr id="7" name="«actor» 外部数据源">
            <a:extLst xmlns:a="http://schemas.openxmlformats.org/drawingml/2006/main">
              <a:ext uri="{FF2B5EF4-FFF2-40B4-BE49-F238E27FC236}">
                <a16:creationId xmlns:a16="http://schemas.microsoft.com/office/drawing/2014/main" id="{E8AECE4F-4AEF-4EFF-93A8-11587933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33625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«actor»</a:t>
            </a:r>
          </a:p>
          <a:p xmlns:a="http://schemas.openxmlformats.org/drawingml/2006/main">
            <a:pPr algn="ctr">
              <a:def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外部数据源</a:t>
            </a:r>
          </a:p>
        </p:txBody>
      </p:sp>
      <p:sp>
        <p:nvSpPr>
          <p:cNvPr id="8" name="«actor» 管理员">
            <a:extLst xmlns:a="http://schemas.openxmlformats.org/drawingml/2006/main">
              <a:ext uri="{FF2B5EF4-FFF2-40B4-BE49-F238E27FC236}">
                <a16:creationId xmlns:a16="http://schemas.microsoft.com/office/drawing/2014/main" id="{82528784-92F8-4A86-B6D2-D2A29EB9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200525"/>
            <a:ext cx="1485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«actor»</a:t>
            </a:r>
          </a:p>
          <a:p xmlns:a="http://schemas.openxmlformats.org/drawingml/2006/main">
            <a:pPr algn="ctr">
              <a:def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9" name="«actor» 已认领科研人员">
            <a:extLst xmlns:a="http://schemas.openxmlformats.org/drawingml/2006/main">
              <a:ext uri="{FF2B5EF4-FFF2-40B4-BE49-F238E27FC236}">
                <a16:creationId xmlns:a16="http://schemas.microsoft.com/office/drawing/2014/main" id="{621A436F-AB01-45AA-BB1C-5CA4F851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534025"/>
            <a:ext cx="2952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«actor» 已认领科研人员</a:t>
            </a:r>
          </a:p>
        </p:txBody>
      </p:sp>
      <p:sp>
        <p:nvSpPr>
          <p:cNvPr id="10" name="检索查看">
            <a:extLst xmlns:a="http://schemas.openxmlformats.org/drawingml/2006/main">
              <a:ext uri="{FF2B5EF4-FFF2-40B4-BE49-F238E27FC236}">
                <a16:creationId xmlns:a16="http://schemas.microsoft.com/office/drawing/2014/main" id="{CBC8B228-EC49-4704-A1C7-D61E14C7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352675"/>
            <a:ext cx="2057400" cy="771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检索查看</a:t>
            </a:r>
          </a:p>
        </p:txBody>
      </p:sp>
      <p:sp>
        <p:nvSpPr>
          <p:cNvPr id="11" name="统计分析">
            <a:extLst xmlns:a="http://schemas.openxmlformats.org/drawingml/2006/main">
              <a:ext uri="{FF2B5EF4-FFF2-40B4-BE49-F238E27FC236}">
                <a16:creationId xmlns:a16="http://schemas.microsoft.com/office/drawing/2014/main" id="{77C4DD8E-675B-4831-B547-3C9B3CBB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352675"/>
            <a:ext cx="2057400" cy="771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统计分析</a:t>
            </a:r>
          </a:p>
        </p:txBody>
      </p:sp>
      <p:sp>
        <p:nvSpPr>
          <p:cNvPr id="12" name="采集管理">
            <a:extLst xmlns:a="http://schemas.openxmlformats.org/drawingml/2006/main">
              <a:ext uri="{FF2B5EF4-FFF2-40B4-BE49-F238E27FC236}">
                <a16:creationId xmlns:a16="http://schemas.microsoft.com/office/drawing/2014/main" id="{CCD21F5E-242F-45AB-BD70-41B9749B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52675"/>
            <a:ext cx="2057400" cy="771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采集管理</a:t>
            </a:r>
          </a:p>
        </p:txBody>
      </p:sp>
      <p:sp>
        <p:nvSpPr>
          <p:cNvPr id="13" name="门户认领">
            <a:extLst xmlns:a="http://schemas.openxmlformats.org/drawingml/2006/main">
              <a:ext uri="{FF2B5EF4-FFF2-40B4-BE49-F238E27FC236}">
                <a16:creationId xmlns:a16="http://schemas.microsoft.com/office/drawing/2014/main" id="{A7509543-7200-442E-AEDD-74D73781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105275"/>
            <a:ext cx="2057400" cy="771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门户认领</a:t>
            </a:r>
          </a:p>
        </p:txBody>
      </p:sp>
      <p:sp>
        <p:nvSpPr>
          <p:cNvPr id="14" name="成果管理">
            <a:extLst xmlns:a="http://schemas.openxmlformats.org/drawingml/2006/main">
              <a:ext uri="{FF2B5EF4-FFF2-40B4-BE49-F238E27FC236}">
                <a16:creationId xmlns:a16="http://schemas.microsoft.com/office/drawing/2014/main" id="{97E7A8DE-8D7A-475B-A728-C57BB2F4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105275"/>
            <a:ext cx="2057400" cy="771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成果管理</a:t>
            </a:r>
          </a:p>
        </p:txBody>
      </p:sp>
      <p:sp>
        <p:nvSpPr>
          <p:cNvPr id="15" name="认领审核">
            <a:extLst xmlns:a="http://schemas.openxmlformats.org/drawingml/2006/main">
              <a:ext uri="{FF2B5EF4-FFF2-40B4-BE49-F238E27FC236}">
                <a16:creationId xmlns:a16="http://schemas.microsoft.com/office/drawing/2014/main" id="{079C1FE9-78EF-4F7D-B999-1DC83120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105275"/>
            <a:ext cx="2057400" cy="7715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认领审核</a:t>
            </a:r>
          </a:p>
        </p:txBody>
      </p:sp>
      <p:cxnSp>
        <p:nvCxnSpPr>
          <p:cNvPr id="16" name="edge-61">
            <a:extLst xmlns:a="http://schemas.openxmlformats.org/drawingml/2006/main">
              <a:ext uri="{FF2B5EF4-FFF2-40B4-BE49-F238E27FC236}">
                <a16:creationId xmlns:a16="http://schemas.microsoft.com/office/drawing/2014/main" id="{6651DDC9-4F88-442D-9E11-311F89DB1A3B}"/>
              </a:ext>
            </a:extLst>
          </p:cNvPr>
          <p:cNvCxnSpPr/>
          <p:nvPr/>
        </p:nvCxnSpPr>
        <p:spPr>
          <a:xfrm xmlns:a="http://schemas.openxmlformats.org/drawingml/2006/main" rot="0">
            <a:off x="2114550" y="2676525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17" name="edge-62">
            <a:extLst xmlns:a="http://schemas.openxmlformats.org/drawingml/2006/main">
              <a:ext uri="{FF2B5EF4-FFF2-40B4-BE49-F238E27FC236}">
                <a16:creationId xmlns:a16="http://schemas.microsoft.com/office/drawing/2014/main" id="{B6E2B8D4-D4AE-4F86-A35F-3BD86F7249DF}"/>
              </a:ext>
            </a:extLst>
          </p:cNvPr>
          <p:cNvCxnSpPr/>
          <p:nvPr/>
        </p:nvCxnSpPr>
        <p:spPr>
          <a:xfrm xmlns:a="http://schemas.openxmlformats.org/drawingml/2006/main" rot="10800000">
            <a:off x="1857375" y="221932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18" name="edge-63">
            <a:extLst xmlns:a="http://schemas.openxmlformats.org/drawingml/2006/main">
              <a:ext uri="{FF2B5EF4-FFF2-40B4-BE49-F238E27FC236}">
                <a16:creationId xmlns:a16="http://schemas.microsoft.com/office/drawing/2014/main" id="{6B996E2D-B6BC-4933-B981-CA5BA7632750}"/>
              </a:ext>
            </a:extLst>
          </p:cNvPr>
          <p:cNvCxnSpPr/>
          <p:nvPr/>
        </p:nvCxnSpPr>
        <p:spPr>
          <a:xfrm xmlns:a="http://schemas.openxmlformats.org/drawingml/2006/main" rot="0">
            <a:off x="1857375" y="2219325"/>
            <a:ext cx="4400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19" name="edge-64">
            <a:extLst xmlns:a="http://schemas.openxmlformats.org/drawingml/2006/main">
              <a:ext uri="{FF2B5EF4-FFF2-40B4-BE49-F238E27FC236}">
                <a16:creationId xmlns:a16="http://schemas.microsoft.com/office/drawing/2014/main" id="{AD2B81D9-725A-4D53-96EC-81475DE22C2C}"/>
              </a:ext>
            </a:extLst>
          </p:cNvPr>
          <p:cNvCxnSpPr/>
          <p:nvPr/>
        </p:nvCxnSpPr>
        <p:spPr>
          <a:xfrm xmlns:a="http://schemas.openxmlformats.org/drawingml/2006/main" rot="0">
            <a:off x="6257925" y="221932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0" name="edge-65">
            <a:extLst xmlns:a="http://schemas.openxmlformats.org/drawingml/2006/main">
              <a:ext uri="{FF2B5EF4-FFF2-40B4-BE49-F238E27FC236}">
                <a16:creationId xmlns:a16="http://schemas.microsoft.com/office/drawing/2014/main" id="{C4244332-B917-40A4-AB57-1727008B95F6}"/>
              </a:ext>
            </a:extLst>
          </p:cNvPr>
          <p:cNvCxnSpPr/>
          <p:nvPr/>
        </p:nvCxnSpPr>
        <p:spPr>
          <a:xfrm xmlns:a="http://schemas.openxmlformats.org/drawingml/2006/main" rot="0">
            <a:off x="2114550" y="4543425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1" name="edge-66">
            <a:extLst xmlns:a="http://schemas.openxmlformats.org/drawingml/2006/main">
              <a:ext uri="{FF2B5EF4-FFF2-40B4-BE49-F238E27FC236}">
                <a16:creationId xmlns:a16="http://schemas.microsoft.com/office/drawing/2014/main" id="{B9E754BB-8223-4482-B406-5B0BEF4256F1}"/>
              </a:ext>
            </a:extLst>
          </p:cNvPr>
          <p:cNvCxnSpPr/>
          <p:nvPr/>
        </p:nvCxnSpPr>
        <p:spPr>
          <a:xfrm xmlns:a="http://schemas.openxmlformats.org/drawingml/2006/main" rot="10800000">
            <a:off x="9763125" y="267652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2" name="edge-67">
            <a:extLst xmlns:a="http://schemas.openxmlformats.org/drawingml/2006/main">
              <a:ext uri="{FF2B5EF4-FFF2-40B4-BE49-F238E27FC236}">
                <a16:creationId xmlns:a16="http://schemas.microsoft.com/office/drawing/2014/main" id="{749D1B45-3FFD-4360-ADA8-4C39A3F83E42}"/>
              </a:ext>
            </a:extLst>
          </p:cNvPr>
          <p:cNvCxnSpPr/>
          <p:nvPr/>
        </p:nvCxnSpPr>
        <p:spPr>
          <a:xfrm xmlns:a="http://schemas.openxmlformats.org/drawingml/2006/main" rot="10800000">
            <a:off x="9763125" y="454342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3" name="edge-68">
            <a:extLst xmlns:a="http://schemas.openxmlformats.org/drawingml/2006/main">
              <a:ext uri="{FF2B5EF4-FFF2-40B4-BE49-F238E27FC236}">
                <a16:creationId xmlns:a16="http://schemas.microsoft.com/office/drawing/2014/main" id="{F3BF49D9-1100-4BD8-8F98-7B2D1EAD68C3}"/>
              </a:ext>
            </a:extLst>
          </p:cNvPr>
          <p:cNvCxnSpPr/>
          <p:nvPr/>
        </p:nvCxnSpPr>
        <p:spPr>
          <a:xfrm xmlns:a="http://schemas.openxmlformats.org/drawingml/2006/main" rot="10800000">
            <a:off x="11258550" y="3457575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4" name="edge-69">
            <a:extLst xmlns:a="http://schemas.openxmlformats.org/drawingml/2006/main">
              <a:ext uri="{FF2B5EF4-FFF2-40B4-BE49-F238E27FC236}">
                <a16:creationId xmlns:a16="http://schemas.microsoft.com/office/drawing/2014/main" id="{9A0613A0-AD74-42DE-8800-02B1EC7DC5B2}"/>
              </a:ext>
            </a:extLst>
          </p:cNvPr>
          <p:cNvCxnSpPr/>
          <p:nvPr/>
        </p:nvCxnSpPr>
        <p:spPr>
          <a:xfrm xmlns:a="http://schemas.openxmlformats.org/drawingml/2006/main" rot="10800000">
            <a:off x="9191625" y="3457575"/>
            <a:ext cx="20669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5" name="edge-70">
            <a:extLst xmlns:a="http://schemas.openxmlformats.org/drawingml/2006/main">
              <a:ext uri="{FF2B5EF4-FFF2-40B4-BE49-F238E27FC236}">
                <a16:creationId xmlns:a16="http://schemas.microsoft.com/office/drawing/2014/main" id="{52208F54-76D7-491D-8710-9BCBC448D41E}"/>
              </a:ext>
            </a:extLst>
          </p:cNvPr>
          <p:cNvCxnSpPr/>
          <p:nvPr/>
        </p:nvCxnSpPr>
        <p:spPr>
          <a:xfrm xmlns:a="http://schemas.openxmlformats.org/drawingml/2006/main" rot="10800000">
            <a:off x="9191625" y="312420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6" name="edge-71">
            <a:extLst xmlns:a="http://schemas.openxmlformats.org/drawingml/2006/main">
              <a:ext uri="{FF2B5EF4-FFF2-40B4-BE49-F238E27FC236}">
                <a16:creationId xmlns:a16="http://schemas.microsoft.com/office/drawing/2014/main" id="{D6B9CC63-85EB-4BF0-98C6-43BF21A01F2A}"/>
              </a:ext>
            </a:extLst>
          </p:cNvPr>
          <p:cNvCxnSpPr/>
          <p:nvPr/>
        </p:nvCxnSpPr>
        <p:spPr>
          <a:xfrm xmlns:a="http://schemas.openxmlformats.org/drawingml/2006/main" rot="10800000">
            <a:off x="6257925" y="4876800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7" name="edge-72">
            <a:extLst xmlns:a="http://schemas.openxmlformats.org/drawingml/2006/main">
              <a:ext uri="{FF2B5EF4-FFF2-40B4-BE49-F238E27FC236}">
                <a16:creationId xmlns:a16="http://schemas.microsoft.com/office/drawing/2014/main" id="{2E25B786-8330-4712-8856-8BF9BBB6C95A}"/>
              </a:ext>
            </a:extLst>
          </p:cNvPr>
          <p:cNvCxnSpPr/>
          <p:nvPr/>
        </p:nvCxnSpPr>
        <p:spPr>
          <a:xfrm xmlns:a="http://schemas.openxmlformats.org/drawingml/2006/main" rot="10800000">
            <a:off x="1362075" y="3152775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sp>
        <p:nvSpPr>
          <p:cNvPr id="28" name="actor-generalization">
            <a:extLst xmlns:a="http://schemas.openxmlformats.org/drawingml/2006/main">
              <a:ext uri="{FF2B5EF4-FFF2-40B4-BE49-F238E27FC236}">
                <a16:creationId xmlns:a16="http://schemas.microsoft.com/office/drawing/2014/main" id="{A9FBA6F6-5CA1-4A9C-B578-E571889C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19425"/>
            <a:ext cx="190500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8F9F5"/>
          </a:solidFill>
          <a:ln xmlns:a="http://schemas.openxmlformats.org/drawingml/2006/main" w="15240">
            <a:solidFill>
              <a:srgbClr val="173E38"/>
            </a:solidFill>
          </a:ln>
        </p:spPr>
      </p:sp>
      <p:cxnSp>
        <p:nvCxnSpPr>
          <p:cNvPr id="29" name="edge-73">
            <a:extLst xmlns:a="http://schemas.openxmlformats.org/drawingml/2006/main">
              <a:ext uri="{FF2B5EF4-FFF2-40B4-BE49-F238E27FC236}">
                <a16:creationId xmlns:a16="http://schemas.microsoft.com/office/drawing/2014/main" id="{F11E5260-7C47-410F-836B-71521F4C0347}"/>
              </a:ext>
            </a:extLst>
          </p:cNvPr>
          <p:cNvCxnSpPr/>
          <p:nvPr/>
        </p:nvCxnSpPr>
        <p:spPr>
          <a:xfrm xmlns:a="http://schemas.openxmlformats.org/drawingml/2006/main" rot="10800000">
            <a:off x="2295525" y="5772150"/>
            <a:ext cx="31242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30" name="edge-74">
            <a:extLst xmlns:a="http://schemas.openxmlformats.org/drawingml/2006/main">
              <a:ext uri="{FF2B5EF4-FFF2-40B4-BE49-F238E27FC236}">
                <a16:creationId xmlns:a16="http://schemas.microsoft.com/office/drawing/2014/main" id="{52C8EC30-9A97-4665-A8F0-83B7366CE997}"/>
              </a:ext>
            </a:extLst>
          </p:cNvPr>
          <p:cNvCxnSpPr/>
          <p:nvPr/>
        </p:nvCxnSpPr>
        <p:spPr>
          <a:xfrm xmlns:a="http://schemas.openxmlformats.org/drawingml/2006/main" rot="10800000">
            <a:off x="2295525" y="5038725"/>
            <a:ext cx="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31" name="edge-75">
            <a:extLst xmlns:a="http://schemas.openxmlformats.org/drawingml/2006/main">
              <a:ext uri="{FF2B5EF4-FFF2-40B4-BE49-F238E27FC236}">
                <a16:creationId xmlns:a16="http://schemas.microsoft.com/office/drawing/2014/main" id="{CAA03EEA-F2A6-40BA-A036-97FC03D470E2}"/>
              </a:ext>
            </a:extLst>
          </p:cNvPr>
          <p:cNvCxnSpPr/>
          <p:nvPr/>
        </p:nvCxnSpPr>
        <p:spPr>
          <a:xfrm xmlns:a="http://schemas.openxmlformats.org/drawingml/2006/main" rot="10800000">
            <a:off x="1362075" y="5038725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32" name="edge-76">
            <a:extLst xmlns:a="http://schemas.openxmlformats.org/drawingml/2006/main">
              <a:ext uri="{FF2B5EF4-FFF2-40B4-BE49-F238E27FC236}">
                <a16:creationId xmlns:a16="http://schemas.microsoft.com/office/drawing/2014/main" id="{CF349FDB-1780-4077-898B-F5540C276975}"/>
              </a:ext>
            </a:extLst>
          </p:cNvPr>
          <p:cNvCxnSpPr/>
          <p:nvPr/>
        </p:nvCxnSpPr>
        <p:spPr>
          <a:xfrm xmlns:a="http://schemas.openxmlformats.org/drawingml/2006/main" rot="10800000">
            <a:off x="1362075" y="5019675"/>
            <a:ext cx="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sp>
        <p:nvSpPr>
          <p:cNvPr id="33" name="claimed-generalization">
            <a:extLst xmlns:a="http://schemas.openxmlformats.org/drawingml/2006/main">
              <a:ext uri="{FF2B5EF4-FFF2-40B4-BE49-F238E27FC236}">
                <a16:creationId xmlns:a16="http://schemas.microsoft.com/office/drawing/2014/main" id="{62090CD0-FDD5-4127-B532-2BB252CB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86325"/>
            <a:ext cx="190500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8F9F5"/>
          </a:solidFill>
          <a:ln xmlns:a="http://schemas.openxmlformats.org/drawingml/2006/main" w="15240">
            <a:solidFill>
              <a:srgbClr val="173E38"/>
            </a:solidFill>
          </a:ln>
        </p:spPr>
      </p:sp>
      <p:sp>
        <p:nvSpPr>
          <p:cNvPr id="34" name="text-77">
            <a:extLst xmlns:a="http://schemas.openxmlformats.org/drawingml/2006/main">
              <a:ext uri="{FF2B5EF4-FFF2-40B4-BE49-F238E27FC236}">
                <a16:creationId xmlns:a16="http://schemas.microsoft.com/office/drawing/2014/main" id="{D2D50BE7-4520-41D0-8FB5-56E440FC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实线表示参与关系，空心三角表示角色继承。成果管理仅限本人门户。</a:t>
            </a:r>
          </a:p>
        </p:txBody>
      </p:sp>
    </p:spTree>
    <p:extLst>
      <p:ext uri="{BB962C8B-B14F-4D97-AF65-F5344CB8AC3E}">
        <p14:creationId xmlns:p14="http://schemas.microsoft.com/office/powerpoint/2010/main" val="17923188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ext-78">
            <a:extLst xmlns:a="http://schemas.openxmlformats.org/drawingml/2006/main">
              <a:ext uri="{FF2B5EF4-FFF2-40B4-BE49-F238E27FC236}">
                <a16:creationId xmlns:a16="http://schemas.microsoft.com/office/drawing/2014/main" id="{8CADE129-9994-4513-97D8-231A0C3C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认领活动图：先验证，再由管理员审核</a:t>
            </a:r>
          </a:p>
        </p:txBody>
      </p:sp>
      <p:sp>
        <p:nvSpPr>
          <p:cNvPr id="2" name="text-79">
            <a:extLst xmlns:a="http://schemas.openxmlformats.org/drawingml/2006/main">
              <a:ext uri="{FF2B5EF4-FFF2-40B4-BE49-F238E27FC236}">
                <a16:creationId xmlns:a16="http://schemas.microsoft.com/office/drawing/2014/main" id="{170580FD-3BF6-4172-9537-0E854421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diagram-80">
            <a:extLst xmlns:a="http://schemas.openxmlformats.org/drawingml/2006/main">
              <a:ext uri="{FF2B5EF4-FFF2-40B4-BE49-F238E27FC236}">
                <a16:creationId xmlns:a16="http://schemas.microsoft.com/office/drawing/2014/main" id="{B3912C16-E059-4796-A9B3-9F8E403E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429000" cy="446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2CB"/>
            </a:solidFill>
          </a:ln>
        </p:spPr>
      </p:sp>
      <p:sp>
        <p:nvSpPr>
          <p:cNvPr id="4" name="text-81">
            <a:extLst xmlns:a="http://schemas.openxmlformats.org/drawingml/2006/main">
              <a:ext uri="{FF2B5EF4-FFF2-40B4-BE49-F238E27FC236}">
                <a16:creationId xmlns:a16="http://schemas.microsoft.com/office/drawing/2014/main" id="{A27CCA36-9FFB-4721-8EF3-A2716F9E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3086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科研人员</a:t>
            </a:r>
          </a:p>
        </p:txBody>
      </p:sp>
      <p:sp>
        <p:nvSpPr>
          <p:cNvPr id="5" name="diagram-82">
            <a:extLst xmlns:a="http://schemas.openxmlformats.org/drawingml/2006/main">
              <a:ext uri="{FF2B5EF4-FFF2-40B4-BE49-F238E27FC236}">
                <a16:creationId xmlns:a16="http://schemas.microsoft.com/office/drawing/2014/main" id="{D60D651C-1DAD-4A70-8458-5A167BF9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581150"/>
            <a:ext cx="3714750" cy="446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2CB"/>
            </a:solidFill>
          </a:ln>
        </p:spPr>
      </p:sp>
      <p:sp>
        <p:nvSpPr>
          <p:cNvPr id="6" name="text-83">
            <a:extLst xmlns:a="http://schemas.openxmlformats.org/drawingml/2006/main">
              <a:ext uri="{FF2B5EF4-FFF2-40B4-BE49-F238E27FC236}">
                <a16:creationId xmlns:a16="http://schemas.microsoft.com/office/drawing/2014/main" id="{B0444E68-8185-47BB-9B04-18E83B3E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24025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7" name="diagram-84">
            <a:extLst xmlns:a="http://schemas.openxmlformats.org/drawingml/2006/main">
              <a:ext uri="{FF2B5EF4-FFF2-40B4-BE49-F238E27FC236}">
                <a16:creationId xmlns:a16="http://schemas.microsoft.com/office/drawing/2014/main" id="{8425DC9D-56F4-4024-8265-B034E524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81150"/>
            <a:ext cx="3829050" cy="446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2CB"/>
            </a:solidFill>
          </a:ln>
        </p:spPr>
      </p:sp>
      <p:sp>
        <p:nvSpPr>
          <p:cNvPr id="8" name="text-85">
            <a:extLst xmlns:a="http://schemas.openxmlformats.org/drawingml/2006/main">
              <a:ext uri="{FF2B5EF4-FFF2-40B4-BE49-F238E27FC236}">
                <a16:creationId xmlns:a16="http://schemas.microsoft.com/office/drawing/2014/main" id="{7E671118-E81B-4E33-86A0-339B1C78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24025"/>
            <a:ext cx="3486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9" name="diagram-86">
            <a:extLst xmlns:a="http://schemas.openxmlformats.org/drawingml/2006/main">
              <a:ext uri="{FF2B5EF4-FFF2-40B4-BE49-F238E27FC236}">
                <a16:creationId xmlns:a16="http://schemas.microsoft.com/office/drawing/2014/main" id="{3856CE3A-2290-4992-9E40-4DFBC071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E38"/>
          </a:solidFill>
          <a:ln xmlns:a="http://schemas.openxmlformats.org/drawingml/2006/main" w="14288">
            <a:solidFill>
              <a:srgbClr val="173E38"/>
            </a:solidFill>
          </a:ln>
        </p:spPr>
      </p:sp>
      <p:cxnSp>
        <p:nvCxnSpPr>
          <p:cNvPr id="10" name="edge-87">
            <a:extLst xmlns:a="http://schemas.openxmlformats.org/drawingml/2006/main">
              <a:ext uri="{FF2B5EF4-FFF2-40B4-BE49-F238E27FC236}">
                <a16:creationId xmlns:a16="http://schemas.microsoft.com/office/drawing/2014/main" id="{06A8231D-93AA-4DA9-A6E7-3D3245366048}"/>
              </a:ext>
            </a:extLst>
          </p:cNvPr>
          <p:cNvCxnSpPr/>
          <p:nvPr/>
        </p:nvCxnSpPr>
        <p:spPr>
          <a:xfrm xmlns:a="http://schemas.openxmlformats.org/drawingml/2006/main" rot="0">
            <a:off x="1085850" y="25050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11" name="提交认领材料">
            <a:extLst xmlns:a="http://schemas.openxmlformats.org/drawingml/2006/main">
              <a:ext uri="{FF2B5EF4-FFF2-40B4-BE49-F238E27FC236}">
                <a16:creationId xmlns:a16="http://schemas.microsoft.com/office/drawing/2014/main" id="{CC2A7233-CF9D-4D7D-B13A-36A882D7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228850"/>
            <a:ext cx="20764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提交认领材料</a:t>
            </a:r>
          </a:p>
        </p:txBody>
      </p:sp>
      <p:sp>
        <p:nvSpPr>
          <p:cNvPr id="12" name="diagram-88">
            <a:extLst xmlns:a="http://schemas.openxmlformats.org/drawingml/2006/main">
              <a:ext uri="{FF2B5EF4-FFF2-40B4-BE49-F238E27FC236}">
                <a16:creationId xmlns:a16="http://schemas.microsoft.com/office/drawing/2014/main" id="{7BF7A528-4AA7-41DD-B81F-4685B836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419350"/>
            <a:ext cx="190500" cy="190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cxnSp>
        <p:nvCxnSpPr>
          <p:cNvPr id="13" name="edge-89">
            <a:extLst xmlns:a="http://schemas.openxmlformats.org/drawingml/2006/main">
              <a:ext uri="{FF2B5EF4-FFF2-40B4-BE49-F238E27FC236}">
                <a16:creationId xmlns:a16="http://schemas.microsoft.com/office/drawing/2014/main" id="{103E8F2B-F29B-4404-8B80-11B9282CAEAB}"/>
              </a:ext>
            </a:extLst>
          </p:cNvPr>
          <p:cNvCxnSpPr/>
          <p:nvPr/>
        </p:nvCxnSpPr>
        <p:spPr>
          <a:xfrm xmlns:a="http://schemas.openxmlformats.org/drawingml/2006/main" rot="0">
            <a:off x="3495675" y="2514600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14" name="验证材料与身份证据">
            <a:extLst xmlns:a="http://schemas.openxmlformats.org/drawingml/2006/main">
              <a:ext uri="{FF2B5EF4-FFF2-40B4-BE49-F238E27FC236}">
                <a16:creationId xmlns:a16="http://schemas.microsoft.com/office/drawing/2014/main" id="{FFC40392-1F0B-49F8-BA1A-57B2A109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28850"/>
            <a:ext cx="26098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验证材料与身份证据</a:t>
            </a:r>
          </a:p>
        </p:txBody>
      </p:sp>
      <p:cxnSp>
        <p:nvCxnSpPr>
          <p:cNvPr id="15" name="edge-90">
            <a:extLst xmlns:a="http://schemas.openxmlformats.org/drawingml/2006/main">
              <a:ext uri="{FF2B5EF4-FFF2-40B4-BE49-F238E27FC236}">
                <a16:creationId xmlns:a16="http://schemas.microsoft.com/office/drawing/2014/main" id="{D7B35EA9-D241-4067-8EE2-8CF52774C21E}"/>
              </a:ext>
            </a:extLst>
          </p:cNvPr>
          <p:cNvCxnSpPr/>
          <p:nvPr/>
        </p:nvCxnSpPr>
        <p:spPr>
          <a:xfrm xmlns:a="http://schemas.openxmlformats.org/drawingml/2006/main" rot="0">
            <a:off x="4333875" y="25146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16" name="通过">
            <a:extLst xmlns:a="http://schemas.openxmlformats.org/drawingml/2006/main">
              <a:ext uri="{FF2B5EF4-FFF2-40B4-BE49-F238E27FC236}">
                <a16:creationId xmlns:a16="http://schemas.microsoft.com/office/drawing/2014/main" id="{00C6179C-5AC0-40B8-AE5E-EB74087D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90875"/>
            <a:ext cx="1200150" cy="895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cxnSp>
        <p:nvCxnSpPr>
          <p:cNvPr id="17" name="edge-91">
            <a:extLst xmlns:a="http://schemas.openxmlformats.org/drawingml/2006/main">
              <a:ext uri="{FF2B5EF4-FFF2-40B4-BE49-F238E27FC236}">
                <a16:creationId xmlns:a16="http://schemas.microsoft.com/office/drawing/2014/main" id="{5477EA14-429C-4B1B-AF2F-7877E8E7B9FC}"/>
              </a:ext>
            </a:extLst>
          </p:cNvPr>
          <p:cNvCxnSpPr/>
          <p:nvPr/>
        </p:nvCxnSpPr>
        <p:spPr>
          <a:xfrm xmlns:a="http://schemas.openxmlformats.org/drawingml/2006/main" rot="0">
            <a:off x="5876925" y="280035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18" name="补充材料">
            <a:extLst xmlns:a="http://schemas.openxmlformats.org/drawingml/2006/main">
              <a:ext uri="{FF2B5EF4-FFF2-40B4-BE49-F238E27FC236}">
                <a16:creationId xmlns:a16="http://schemas.microsoft.com/office/drawing/2014/main" id="{7B601155-9A5B-4AB7-BE57-E5E14104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29000"/>
            <a:ext cx="20764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补充材料</a:t>
            </a:r>
          </a:p>
        </p:txBody>
      </p:sp>
      <p:sp>
        <p:nvSpPr>
          <p:cNvPr id="19" name="diagram-92">
            <a:extLst xmlns:a="http://schemas.openxmlformats.org/drawingml/2006/main">
              <a:ext uri="{FF2B5EF4-FFF2-40B4-BE49-F238E27FC236}">
                <a16:creationId xmlns:a16="http://schemas.microsoft.com/office/drawing/2014/main" id="{0D84B74B-6EC6-451D-9D5E-B1F4C35A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43300"/>
            <a:ext cx="190500" cy="1905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cxnSp>
        <p:nvCxnSpPr>
          <p:cNvPr id="20" name="edge-93">
            <a:extLst xmlns:a="http://schemas.openxmlformats.org/drawingml/2006/main">
              <a:ext uri="{FF2B5EF4-FFF2-40B4-BE49-F238E27FC236}">
                <a16:creationId xmlns:a16="http://schemas.microsoft.com/office/drawing/2014/main" id="{24DE5733-0139-4346-B295-6C1B9CFB3E92}"/>
              </a:ext>
            </a:extLst>
          </p:cNvPr>
          <p:cNvCxnSpPr/>
          <p:nvPr/>
        </p:nvCxnSpPr>
        <p:spPr>
          <a:xfrm xmlns:a="http://schemas.openxmlformats.org/drawingml/2006/main" rot="10800000">
            <a:off x="3848100" y="36385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cxnSp>
        <p:nvCxnSpPr>
          <p:cNvPr id="21" name="edge-94">
            <a:extLst xmlns:a="http://schemas.openxmlformats.org/drawingml/2006/main">
              <a:ext uri="{FF2B5EF4-FFF2-40B4-BE49-F238E27FC236}">
                <a16:creationId xmlns:a16="http://schemas.microsoft.com/office/drawing/2014/main" id="{F45C2E69-FD8B-487C-A926-FCA1853A7E99}"/>
              </a:ext>
            </a:extLst>
          </p:cNvPr>
          <p:cNvCxnSpPr/>
          <p:nvPr/>
        </p:nvCxnSpPr>
        <p:spPr>
          <a:xfrm xmlns:a="http://schemas.openxmlformats.org/drawingml/2006/main" rot="10800000">
            <a:off x="3495675" y="3638550"/>
            <a:ext cx="1619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22" name="text-95">
            <a:extLst xmlns:a="http://schemas.openxmlformats.org/drawingml/2006/main">
              <a:ext uri="{FF2B5EF4-FFF2-40B4-BE49-F238E27FC236}">
                <a16:creationId xmlns:a16="http://schemas.microsoft.com/office/drawing/2014/main" id="{2EB3EB85-100A-490E-9FFE-9A54B3ED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05175"/>
            <a:ext cx="7334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[否]</a:t>
            </a:r>
          </a:p>
        </p:txBody>
      </p:sp>
      <p:cxnSp>
        <p:nvCxnSpPr>
          <p:cNvPr id="23" name="edge-96">
            <a:extLst xmlns:a="http://schemas.openxmlformats.org/drawingml/2006/main">
              <a:ext uri="{FF2B5EF4-FFF2-40B4-BE49-F238E27FC236}">
                <a16:creationId xmlns:a16="http://schemas.microsoft.com/office/drawing/2014/main" id="{6F53A74D-AE7A-4B2B-839B-B2D52EF1AAA5}"/>
              </a:ext>
            </a:extLst>
          </p:cNvPr>
          <p:cNvCxnSpPr/>
          <p:nvPr/>
        </p:nvCxnSpPr>
        <p:spPr>
          <a:xfrm xmlns:a="http://schemas.openxmlformats.org/drawingml/2006/main" rot="10800000">
            <a:off x="2457450" y="302895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4" name="edge-97">
            <a:extLst xmlns:a="http://schemas.openxmlformats.org/drawingml/2006/main">
              <a:ext uri="{FF2B5EF4-FFF2-40B4-BE49-F238E27FC236}">
                <a16:creationId xmlns:a16="http://schemas.microsoft.com/office/drawing/2014/main" id="{55F68D5A-7700-4F3F-99F6-86355157BCAD}"/>
              </a:ext>
            </a:extLst>
          </p:cNvPr>
          <p:cNvCxnSpPr/>
          <p:nvPr/>
        </p:nvCxnSpPr>
        <p:spPr>
          <a:xfrm xmlns:a="http://schemas.openxmlformats.org/drawingml/2006/main" rot="0">
            <a:off x="2457450" y="3028950"/>
            <a:ext cx="1781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5" name="edge-98">
            <a:extLst xmlns:a="http://schemas.openxmlformats.org/drawingml/2006/main">
              <a:ext uri="{FF2B5EF4-FFF2-40B4-BE49-F238E27FC236}">
                <a16:creationId xmlns:a16="http://schemas.microsoft.com/office/drawing/2014/main" id="{FB6E78FF-93E0-4FAA-B2AF-2F5689DC59DA}"/>
              </a:ext>
            </a:extLst>
          </p:cNvPr>
          <p:cNvCxnSpPr/>
          <p:nvPr/>
        </p:nvCxnSpPr>
        <p:spPr>
          <a:xfrm xmlns:a="http://schemas.openxmlformats.org/drawingml/2006/main" rot="10800000">
            <a:off x="4238625" y="260985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26" name="人工审核">
            <a:extLst xmlns:a="http://schemas.openxmlformats.org/drawingml/2006/main">
              <a:ext uri="{FF2B5EF4-FFF2-40B4-BE49-F238E27FC236}">
                <a16:creationId xmlns:a16="http://schemas.microsoft.com/office/drawing/2014/main" id="{0EEA9BA3-6AA6-444B-903B-B87474AE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62325"/>
            <a:ext cx="24003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</p:txBody>
      </p:sp>
      <p:cxnSp>
        <p:nvCxnSpPr>
          <p:cNvPr id="27" name="edge-99">
            <a:extLst xmlns:a="http://schemas.openxmlformats.org/drawingml/2006/main">
              <a:ext uri="{FF2B5EF4-FFF2-40B4-BE49-F238E27FC236}">
                <a16:creationId xmlns:a16="http://schemas.microsoft.com/office/drawing/2014/main" id="{47601154-DFF6-4C29-9366-358656F2452E}"/>
              </a:ext>
            </a:extLst>
          </p:cNvPr>
          <p:cNvCxnSpPr/>
          <p:nvPr/>
        </p:nvCxnSpPr>
        <p:spPr>
          <a:xfrm xmlns:a="http://schemas.openxmlformats.org/drawingml/2006/main" rot="0">
            <a:off x="6477000" y="3638550"/>
            <a:ext cx="19812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28" name="text-100">
            <a:extLst xmlns:a="http://schemas.openxmlformats.org/drawingml/2006/main">
              <a:ext uri="{FF2B5EF4-FFF2-40B4-BE49-F238E27FC236}">
                <a16:creationId xmlns:a16="http://schemas.microsoft.com/office/drawing/2014/main" id="{15D26E70-D1C4-46B6-8741-44CC8CF0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86125"/>
            <a:ext cx="590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[是]</a:t>
            </a:r>
          </a:p>
        </p:txBody>
      </p:sp>
      <p:sp>
        <p:nvSpPr>
          <p:cNvPr id="29" name="决定">
            <a:extLst xmlns:a="http://schemas.openxmlformats.org/drawingml/2006/main">
              <a:ext uri="{FF2B5EF4-FFF2-40B4-BE49-F238E27FC236}">
                <a16:creationId xmlns:a16="http://schemas.microsoft.com/office/drawing/2014/main" id="{F21F5557-8FAD-4BDD-BBFA-4EAF43EA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71950"/>
            <a:ext cx="914400" cy="6191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决定</a:t>
            </a:r>
          </a:p>
        </p:txBody>
      </p:sp>
      <p:cxnSp>
        <p:nvCxnSpPr>
          <p:cNvPr id="30" name="edge-101">
            <a:extLst xmlns:a="http://schemas.openxmlformats.org/drawingml/2006/main">
              <a:ext uri="{FF2B5EF4-FFF2-40B4-BE49-F238E27FC236}">
                <a16:creationId xmlns:a16="http://schemas.microsoft.com/office/drawing/2014/main" id="{D8652868-7BF9-4C48-B556-86878CF2A934}"/>
              </a:ext>
            </a:extLst>
          </p:cNvPr>
          <p:cNvCxnSpPr/>
          <p:nvPr/>
        </p:nvCxnSpPr>
        <p:spPr>
          <a:xfrm xmlns:a="http://schemas.openxmlformats.org/drawingml/2006/main" rot="0">
            <a:off x="9658350" y="39624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cxnSp>
        <p:nvCxnSpPr>
          <p:cNvPr id="31" name="edge-102">
            <a:extLst xmlns:a="http://schemas.openxmlformats.org/drawingml/2006/main">
              <a:ext uri="{FF2B5EF4-FFF2-40B4-BE49-F238E27FC236}">
                <a16:creationId xmlns:a16="http://schemas.microsoft.com/office/drawing/2014/main" id="{ADF934AA-EBAD-417D-9AFC-255D5D052E32}"/>
              </a:ext>
            </a:extLst>
          </p:cNvPr>
          <p:cNvCxnSpPr/>
          <p:nvPr/>
        </p:nvCxnSpPr>
        <p:spPr>
          <a:xfrm xmlns:a="http://schemas.openxmlformats.org/drawingml/2006/main" rot="10800000">
            <a:off x="3752850" y="4476750"/>
            <a:ext cx="54483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32" name="edge-103">
            <a:extLst xmlns:a="http://schemas.openxmlformats.org/drawingml/2006/main">
              <a:ext uri="{FF2B5EF4-FFF2-40B4-BE49-F238E27FC236}">
                <a16:creationId xmlns:a16="http://schemas.microsoft.com/office/drawing/2014/main" id="{2952998F-B245-4FB7-8BA6-2DB1E8E3C752}"/>
              </a:ext>
            </a:extLst>
          </p:cNvPr>
          <p:cNvCxnSpPr/>
          <p:nvPr/>
        </p:nvCxnSpPr>
        <p:spPr>
          <a:xfrm xmlns:a="http://schemas.openxmlformats.org/drawingml/2006/main" rot="10800000">
            <a:off x="3752850" y="37338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33" name="text-104">
            <a:extLst xmlns:a="http://schemas.openxmlformats.org/drawingml/2006/main">
              <a:ext uri="{FF2B5EF4-FFF2-40B4-BE49-F238E27FC236}">
                <a16:creationId xmlns:a16="http://schemas.microsoft.com/office/drawing/2014/main" id="{9F96C965-CB9A-4207-943E-E7CDE289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05275"/>
            <a:ext cx="15906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[要求补充]</a:t>
            </a:r>
          </a:p>
        </p:txBody>
      </p:sp>
      <p:sp>
        <p:nvSpPr>
          <p:cNvPr id="34" name="保存决定 通过后开放维护权限">
            <a:extLst xmlns:a="http://schemas.openxmlformats.org/drawingml/2006/main">
              <a:ext uri="{FF2B5EF4-FFF2-40B4-BE49-F238E27FC236}">
                <a16:creationId xmlns:a16="http://schemas.microsoft.com/office/drawing/2014/main" id="{84A10517-463A-45BB-8177-FA1D1F6A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43475"/>
            <a:ext cx="2952750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保存决定</a:t>
            </a:r>
          </a:p>
          <a:p xmlns:a="http://schemas.openxmlformats.org/drawingml/2006/main">
            <a:pPr algn="ctr">
              <a:def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通过后开放维护权限</a:t>
            </a:r>
          </a:p>
        </p:txBody>
      </p:sp>
      <p:cxnSp>
        <p:nvCxnSpPr>
          <p:cNvPr id="35" name="edge-105">
            <a:extLst xmlns:a="http://schemas.openxmlformats.org/drawingml/2006/main">
              <a:ext uri="{FF2B5EF4-FFF2-40B4-BE49-F238E27FC236}">
                <a16:creationId xmlns:a16="http://schemas.microsoft.com/office/drawing/2014/main" id="{85D9C88A-904F-43B1-8319-CD7E83DA9097}"/>
              </a:ext>
            </a:extLst>
          </p:cNvPr>
          <p:cNvCxnSpPr/>
          <p:nvPr/>
        </p:nvCxnSpPr>
        <p:spPr>
          <a:xfrm xmlns:a="http://schemas.openxmlformats.org/drawingml/2006/main" rot="0">
            <a:off x="9658350" y="4791075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36" name="edge-106">
            <a:extLst xmlns:a="http://schemas.openxmlformats.org/drawingml/2006/main">
              <a:ext uri="{FF2B5EF4-FFF2-40B4-BE49-F238E27FC236}">
                <a16:creationId xmlns:a16="http://schemas.microsoft.com/office/drawing/2014/main" id="{7400CF3C-ECF4-40AF-A1BE-B94E7EBE6D29}"/>
              </a:ext>
            </a:extLst>
          </p:cNvPr>
          <p:cNvCxnSpPr/>
          <p:nvPr/>
        </p:nvCxnSpPr>
        <p:spPr>
          <a:xfrm xmlns:a="http://schemas.openxmlformats.org/drawingml/2006/main" rot="10800000">
            <a:off x="7372350" y="5305425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37" name="text-107">
            <a:extLst xmlns:a="http://schemas.openxmlformats.org/drawingml/2006/main">
              <a:ext uri="{FF2B5EF4-FFF2-40B4-BE49-F238E27FC236}">
                <a16:creationId xmlns:a16="http://schemas.microsoft.com/office/drawing/2014/main" id="{6CF45A45-3ACE-4C79-BB9C-A095F4E5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0"/>
            <a:ext cx="1752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[通过／驳回]</a:t>
            </a:r>
          </a:p>
        </p:txBody>
      </p:sp>
      <p:sp>
        <p:nvSpPr>
          <p:cNvPr id="38" name="查看状态与理由">
            <a:extLst xmlns:a="http://schemas.openxmlformats.org/drawingml/2006/main">
              <a:ext uri="{FF2B5EF4-FFF2-40B4-BE49-F238E27FC236}">
                <a16:creationId xmlns:a16="http://schemas.microsoft.com/office/drawing/2014/main" id="{DE49F72E-80B0-4350-9163-5488C0E0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91100"/>
            <a:ext cx="207645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查看状态与理由</a:t>
            </a:r>
          </a:p>
        </p:txBody>
      </p:sp>
      <p:cxnSp>
        <p:nvCxnSpPr>
          <p:cNvPr id="39" name="edge-108">
            <a:extLst xmlns:a="http://schemas.openxmlformats.org/drawingml/2006/main">
              <a:ext uri="{FF2B5EF4-FFF2-40B4-BE49-F238E27FC236}">
                <a16:creationId xmlns:a16="http://schemas.microsoft.com/office/drawing/2014/main" id="{BD4FD5E8-5A9C-4B58-8ACF-823A12ACD4E9}"/>
              </a:ext>
            </a:extLst>
          </p:cNvPr>
          <p:cNvCxnSpPr/>
          <p:nvPr/>
        </p:nvCxnSpPr>
        <p:spPr>
          <a:xfrm xmlns:a="http://schemas.openxmlformats.org/drawingml/2006/main" rot="10800000">
            <a:off x="3495675" y="53054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cxnSp>
        <p:nvCxnSpPr>
          <p:cNvPr id="40" name="edge-109">
            <a:extLst xmlns:a="http://schemas.openxmlformats.org/drawingml/2006/main">
              <a:ext uri="{FF2B5EF4-FFF2-40B4-BE49-F238E27FC236}">
                <a16:creationId xmlns:a16="http://schemas.microsoft.com/office/drawing/2014/main" id="{F75170E0-F178-4679-8EBD-B49FC9021531}"/>
              </a:ext>
            </a:extLst>
          </p:cNvPr>
          <p:cNvCxnSpPr/>
          <p:nvPr/>
        </p:nvCxnSpPr>
        <p:spPr>
          <a:xfrm xmlns:a="http://schemas.openxmlformats.org/drawingml/2006/main" rot="10800000">
            <a:off x="1085850" y="53054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41" name="diagram-110">
            <a:extLst xmlns:a="http://schemas.openxmlformats.org/drawingml/2006/main">
              <a:ext uri="{FF2B5EF4-FFF2-40B4-BE49-F238E27FC236}">
                <a16:creationId xmlns:a16="http://schemas.microsoft.com/office/drawing/2014/main" id="{967B7070-9D65-4AB4-9AFD-6F27CDA2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E38"/>
            </a:solidFill>
          </a:ln>
        </p:spPr>
      </p:sp>
      <p:sp>
        <p:nvSpPr>
          <p:cNvPr id="42" name="diagram-111">
            <a:extLst xmlns:a="http://schemas.openxmlformats.org/drawingml/2006/main">
              <a:ext uri="{FF2B5EF4-FFF2-40B4-BE49-F238E27FC236}">
                <a16:creationId xmlns:a16="http://schemas.microsoft.com/office/drawing/2014/main" id="{DE21D1F1-A8C6-45AD-B92D-5E6A4A65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8" y="525303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E38"/>
          </a:solidFill>
          <a:ln xmlns:a="http://schemas.openxmlformats.org/drawingml/2006/main" w="0">
            <a:solidFill>
              <a:srgbClr val="173E38"/>
            </a:solidFill>
          </a:ln>
        </p:spPr>
      </p:sp>
      <p:sp>
        <p:nvSpPr>
          <p:cNvPr id="43" name="text-112">
            <a:extLst xmlns:a="http://schemas.openxmlformats.org/drawingml/2006/main">
              <a:ext uri="{FF2B5EF4-FFF2-40B4-BE49-F238E27FC236}">
                <a16:creationId xmlns:a16="http://schemas.microsoft.com/office/drawing/2014/main" id="{A2C1CDB3-DD12-435D-8E46-4C897ADA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身份线索需要验证，管理员不得审核自己的申请。</a:t>
            </a:r>
          </a:p>
        </p:txBody>
      </p:sp>
    </p:spTree>
    <p:extLst>
      <p:ext uri="{BB962C8B-B14F-4D97-AF65-F5344CB8AC3E}">
        <p14:creationId xmlns:p14="http://schemas.microsoft.com/office/powerpoint/2010/main" val="9396440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ext-113">
            <a:extLst xmlns:a="http://schemas.openxmlformats.org/drawingml/2006/main">
              <a:ext uri="{FF2B5EF4-FFF2-40B4-BE49-F238E27FC236}">
                <a16:creationId xmlns:a16="http://schemas.microsoft.com/office/drawing/2014/main" id="{8424B9F8-ADFD-4481-AEBC-7783C00E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认领状态图：补充与撤回都有明确出口</a:t>
            </a:r>
          </a:p>
        </p:txBody>
      </p:sp>
      <p:sp>
        <p:nvSpPr>
          <p:cNvPr id="2" name="text-114">
            <a:extLst xmlns:a="http://schemas.openxmlformats.org/drawingml/2006/main">
              <a:ext uri="{FF2B5EF4-FFF2-40B4-BE49-F238E27FC236}">
                <a16:creationId xmlns:a16="http://schemas.microsoft.com/office/drawing/2014/main" id="{F02C3884-08F5-4AB0-BA3D-3C23F982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diagram-115">
            <a:extLst xmlns:a="http://schemas.openxmlformats.org/drawingml/2006/main">
              <a:ext uri="{FF2B5EF4-FFF2-40B4-BE49-F238E27FC236}">
                <a16:creationId xmlns:a16="http://schemas.microsoft.com/office/drawing/2014/main" id="{A98C4021-AE26-45C1-8F75-34023F28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620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8F9F5"/>
          </a:solidFill>
          <a:ln xmlns:a="http://schemas.openxmlformats.org/drawingml/2006/main" w="14288">
            <a:solidFill>
              <a:srgbClr val="C7D2CB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text-116">
            <a:extLst xmlns:a="http://schemas.openxmlformats.org/drawingml/2006/main">
              <a:ext uri="{FF2B5EF4-FFF2-40B4-BE49-F238E27FC236}">
                <a16:creationId xmlns:a16="http://schemas.microsoft.com/office/drawing/2014/main" id="{CB7D3985-75E4-43A7-ACD6-4677190B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处理中的申请</a:t>
            </a:r>
          </a:p>
        </p:txBody>
      </p:sp>
      <p:sp>
        <p:nvSpPr>
          <p:cNvPr id="5" name="diagram-117">
            <a:extLst xmlns:a="http://schemas.openxmlformats.org/drawingml/2006/main">
              <a:ext uri="{FF2B5EF4-FFF2-40B4-BE49-F238E27FC236}">
                <a16:creationId xmlns:a16="http://schemas.microsoft.com/office/drawing/2014/main" id="{27CD6BD4-5FB7-4EAB-9B10-C643942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28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E38"/>
          </a:solidFill>
          <a:ln xmlns:a="http://schemas.openxmlformats.org/drawingml/2006/main" w="14288">
            <a:solidFill>
              <a:srgbClr val="173E38"/>
            </a:solidFill>
          </a:ln>
        </p:spPr>
      </p:sp>
      <p:sp>
        <p:nvSpPr>
          <p:cNvPr id="6" name="已提交">
            <a:extLst xmlns:a="http://schemas.openxmlformats.org/drawingml/2006/main">
              <a:ext uri="{FF2B5EF4-FFF2-40B4-BE49-F238E27FC236}">
                <a16:creationId xmlns:a16="http://schemas.microsoft.com/office/drawing/2014/main" id="{3A341A6E-04CD-4356-9555-C22E91F5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419350"/>
            <a:ext cx="15430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已提交</a:t>
            </a:r>
          </a:p>
        </p:txBody>
      </p:sp>
      <p:sp>
        <p:nvSpPr>
          <p:cNvPr id="7" name="验证中">
            <a:extLst xmlns:a="http://schemas.openxmlformats.org/drawingml/2006/main">
              <a:ext uri="{FF2B5EF4-FFF2-40B4-BE49-F238E27FC236}">
                <a16:creationId xmlns:a16="http://schemas.microsoft.com/office/drawing/2014/main" id="{4817F3DE-1ED2-4FA2-92DD-AD7E0767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1935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验证中</a:t>
            </a:r>
          </a:p>
        </p:txBody>
      </p:sp>
      <p:sp>
        <p:nvSpPr>
          <p:cNvPr id="8" name="待审核">
            <a:extLst xmlns:a="http://schemas.openxmlformats.org/drawingml/2006/main">
              <a:ext uri="{FF2B5EF4-FFF2-40B4-BE49-F238E27FC236}">
                <a16:creationId xmlns:a16="http://schemas.microsoft.com/office/drawing/2014/main" id="{11E278A9-57C4-42C0-A72F-C51A2DA3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待审核</a:t>
            </a:r>
          </a:p>
        </p:txBody>
      </p:sp>
      <p:cxnSp>
        <p:nvCxnSpPr>
          <p:cNvPr id="9" name="edge-118">
            <a:extLst xmlns:a="http://schemas.openxmlformats.org/drawingml/2006/main">
              <a:ext uri="{FF2B5EF4-FFF2-40B4-BE49-F238E27FC236}">
                <a16:creationId xmlns:a16="http://schemas.microsoft.com/office/drawing/2014/main" id="{45DD9B4C-BA34-4C26-B994-BFAB596FC8A5}"/>
              </a:ext>
            </a:extLst>
          </p:cNvPr>
          <p:cNvCxnSpPr/>
          <p:nvPr/>
        </p:nvCxnSpPr>
        <p:spPr>
          <a:xfrm xmlns:a="http://schemas.openxmlformats.org/drawingml/2006/main" rot="0">
            <a:off x="1038225" y="27146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cxnSp>
        <p:nvCxnSpPr>
          <p:cNvPr id="10" name="edge-119">
            <a:extLst xmlns:a="http://schemas.openxmlformats.org/drawingml/2006/main">
              <a:ext uri="{FF2B5EF4-FFF2-40B4-BE49-F238E27FC236}">
                <a16:creationId xmlns:a16="http://schemas.microsoft.com/office/drawing/2014/main" id="{0D2EB6CA-260C-4E40-8371-8924AD12F091}"/>
              </a:ext>
            </a:extLst>
          </p:cNvPr>
          <p:cNvCxnSpPr/>
          <p:nvPr/>
        </p:nvCxnSpPr>
        <p:spPr>
          <a:xfrm xmlns:a="http://schemas.openxmlformats.org/drawingml/2006/main" rot="0">
            <a:off x="2847975" y="271462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11" name="text-120">
            <a:extLst xmlns:a="http://schemas.openxmlformats.org/drawingml/2006/main">
              <a:ext uri="{FF2B5EF4-FFF2-40B4-BE49-F238E27FC236}">
                <a16:creationId xmlns:a16="http://schemas.microsoft.com/office/drawing/2014/main" id="{7F3EEA67-F600-4DD9-BD49-09E908C1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38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开始验证</a:t>
            </a:r>
          </a:p>
        </p:txBody>
      </p:sp>
      <p:cxnSp>
        <p:nvCxnSpPr>
          <p:cNvPr id="12" name="edge-121">
            <a:extLst xmlns:a="http://schemas.openxmlformats.org/drawingml/2006/main">
              <a:ext uri="{FF2B5EF4-FFF2-40B4-BE49-F238E27FC236}">
                <a16:creationId xmlns:a16="http://schemas.microsoft.com/office/drawing/2014/main" id="{58CC4609-6141-482B-83EE-12A22104A635}"/>
              </a:ext>
            </a:extLst>
          </p:cNvPr>
          <p:cNvCxnSpPr/>
          <p:nvPr/>
        </p:nvCxnSpPr>
        <p:spPr>
          <a:xfrm xmlns:a="http://schemas.openxmlformats.org/drawingml/2006/main" rot="0">
            <a:off x="5172075" y="27146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13" name="text-122">
            <a:extLst xmlns:a="http://schemas.openxmlformats.org/drawingml/2006/main">
              <a:ext uri="{FF2B5EF4-FFF2-40B4-BE49-F238E27FC236}">
                <a16:creationId xmlns:a16="http://schemas.microsoft.com/office/drawing/2014/main" id="{8E75DAF5-332C-417B-8F1A-00942190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38350"/>
            <a:ext cx="1057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验证通过</a:t>
            </a:r>
          </a:p>
        </p:txBody>
      </p:sp>
      <p:sp>
        <p:nvSpPr>
          <p:cNvPr id="14" name="待补充">
            <a:extLst xmlns:a="http://schemas.openxmlformats.org/drawingml/2006/main">
              <a:ext uri="{FF2B5EF4-FFF2-40B4-BE49-F238E27FC236}">
                <a16:creationId xmlns:a16="http://schemas.microsoft.com/office/drawing/2014/main" id="{4E7D7473-AC97-44B9-97ED-D7E86FEB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267200"/>
            <a:ext cx="1619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待补充</a:t>
            </a:r>
          </a:p>
        </p:txBody>
      </p:sp>
      <p:cxnSp>
        <p:nvCxnSpPr>
          <p:cNvPr id="15" name="edge-123">
            <a:extLst xmlns:a="http://schemas.openxmlformats.org/drawingml/2006/main">
              <a:ext uri="{FF2B5EF4-FFF2-40B4-BE49-F238E27FC236}">
                <a16:creationId xmlns:a16="http://schemas.microsoft.com/office/drawing/2014/main" id="{33A0B7A1-301E-4589-9411-BDF6B1B7DC67}"/>
              </a:ext>
            </a:extLst>
          </p:cNvPr>
          <p:cNvCxnSpPr/>
          <p:nvPr/>
        </p:nvCxnSpPr>
        <p:spPr>
          <a:xfrm xmlns:a="http://schemas.openxmlformats.org/drawingml/2006/main" rot="0">
            <a:off x="4362450" y="30289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16" name="text-124">
            <a:extLst xmlns:a="http://schemas.openxmlformats.org/drawingml/2006/main">
              <a:ext uri="{FF2B5EF4-FFF2-40B4-BE49-F238E27FC236}">
                <a16:creationId xmlns:a16="http://schemas.microsoft.com/office/drawing/2014/main" id="{687E6E88-7C5D-43FC-B1A8-B99B8DA8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766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材料不足</a:t>
            </a:r>
          </a:p>
        </p:txBody>
      </p:sp>
      <p:cxnSp>
        <p:nvCxnSpPr>
          <p:cNvPr id="17" name="edge-125">
            <a:extLst xmlns:a="http://schemas.openxmlformats.org/drawingml/2006/main">
              <a:ext uri="{FF2B5EF4-FFF2-40B4-BE49-F238E27FC236}">
                <a16:creationId xmlns:a16="http://schemas.microsoft.com/office/drawing/2014/main" id="{99B3EF78-0C01-4BDE-9750-4E156C7D6835}"/>
              </a:ext>
            </a:extLst>
          </p:cNvPr>
          <p:cNvCxnSpPr/>
          <p:nvPr/>
        </p:nvCxnSpPr>
        <p:spPr>
          <a:xfrm xmlns:a="http://schemas.openxmlformats.org/drawingml/2006/main" rot="10800000">
            <a:off x="3219450" y="45720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18" name="edge-126">
            <a:extLst xmlns:a="http://schemas.openxmlformats.org/drawingml/2006/main">
              <a:ext uri="{FF2B5EF4-FFF2-40B4-BE49-F238E27FC236}">
                <a16:creationId xmlns:a16="http://schemas.microsoft.com/office/drawing/2014/main" id="{0C88F518-A2F3-47C0-A001-EBD38C19623C}"/>
              </a:ext>
            </a:extLst>
          </p:cNvPr>
          <p:cNvCxnSpPr/>
          <p:nvPr/>
        </p:nvCxnSpPr>
        <p:spPr>
          <a:xfrm xmlns:a="http://schemas.openxmlformats.org/drawingml/2006/main" rot="10800000">
            <a:off x="3219450" y="33337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19" name="edge-127">
            <a:extLst xmlns:a="http://schemas.openxmlformats.org/drawingml/2006/main">
              <a:ext uri="{FF2B5EF4-FFF2-40B4-BE49-F238E27FC236}">
                <a16:creationId xmlns:a16="http://schemas.microsoft.com/office/drawing/2014/main" id="{9FF1873B-CD2D-4878-8CEF-EEE0ACCF8CE3}"/>
              </a:ext>
            </a:extLst>
          </p:cNvPr>
          <p:cNvCxnSpPr/>
          <p:nvPr/>
        </p:nvCxnSpPr>
        <p:spPr>
          <a:xfrm xmlns:a="http://schemas.openxmlformats.org/drawingml/2006/main" rot="0">
            <a:off x="3219450" y="333375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0" name="edge-128">
            <a:extLst xmlns:a="http://schemas.openxmlformats.org/drawingml/2006/main">
              <a:ext uri="{FF2B5EF4-FFF2-40B4-BE49-F238E27FC236}">
                <a16:creationId xmlns:a16="http://schemas.microsoft.com/office/drawing/2014/main" id="{7DB3D035-C0DA-49AB-9CEE-20E4792341E8}"/>
              </a:ext>
            </a:extLst>
          </p:cNvPr>
          <p:cNvCxnSpPr/>
          <p:nvPr/>
        </p:nvCxnSpPr>
        <p:spPr>
          <a:xfrm xmlns:a="http://schemas.openxmlformats.org/drawingml/2006/main" rot="10800000">
            <a:off x="3876675" y="30289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21" name="text-129">
            <a:extLst xmlns:a="http://schemas.openxmlformats.org/drawingml/2006/main">
              <a:ext uri="{FF2B5EF4-FFF2-40B4-BE49-F238E27FC236}">
                <a16:creationId xmlns:a16="http://schemas.microsoft.com/office/drawing/2014/main" id="{6CA42332-D20E-424B-AB7A-2C3B7E13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619500"/>
            <a:ext cx="1133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补充提交</a:t>
            </a:r>
          </a:p>
        </p:txBody>
      </p:sp>
      <p:cxnSp>
        <p:nvCxnSpPr>
          <p:cNvPr id="22" name="edge-130">
            <a:extLst xmlns:a="http://schemas.openxmlformats.org/drawingml/2006/main">
              <a:ext uri="{FF2B5EF4-FFF2-40B4-BE49-F238E27FC236}">
                <a16:creationId xmlns:a16="http://schemas.microsoft.com/office/drawing/2014/main" id="{328FD621-44DD-40EC-912A-3248F5D1990D}"/>
              </a:ext>
            </a:extLst>
          </p:cNvPr>
          <p:cNvCxnSpPr/>
          <p:nvPr/>
        </p:nvCxnSpPr>
        <p:spPr>
          <a:xfrm xmlns:a="http://schemas.openxmlformats.org/drawingml/2006/main" rot="0">
            <a:off x="6981825" y="3028950"/>
            <a:ext cx="0" cy="15430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3" name="edge-131">
            <a:extLst xmlns:a="http://schemas.openxmlformats.org/drawingml/2006/main">
              <a:ext uri="{FF2B5EF4-FFF2-40B4-BE49-F238E27FC236}">
                <a16:creationId xmlns:a16="http://schemas.microsoft.com/office/drawing/2014/main" id="{4BC22D5A-74E9-4613-BAA3-BB55F1895244}"/>
              </a:ext>
            </a:extLst>
          </p:cNvPr>
          <p:cNvCxnSpPr/>
          <p:nvPr/>
        </p:nvCxnSpPr>
        <p:spPr>
          <a:xfrm xmlns:a="http://schemas.openxmlformats.org/drawingml/2006/main" rot="10800000">
            <a:off x="5172075" y="45720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24" name="text-132">
            <a:extLst xmlns:a="http://schemas.openxmlformats.org/drawingml/2006/main">
              <a:ext uri="{FF2B5EF4-FFF2-40B4-BE49-F238E27FC236}">
                <a16:creationId xmlns:a16="http://schemas.microsoft.com/office/drawing/2014/main" id="{D7A42D61-9509-4DDE-8511-D6BAAD22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1910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要求补充</a:t>
            </a:r>
          </a:p>
        </p:txBody>
      </p:sp>
      <p:sp>
        <p:nvSpPr>
          <p:cNvPr id="25" name="已通过">
            <a:extLst xmlns:a="http://schemas.openxmlformats.org/drawingml/2006/main">
              <a:ext uri="{FF2B5EF4-FFF2-40B4-BE49-F238E27FC236}">
                <a16:creationId xmlns:a16="http://schemas.microsoft.com/office/drawing/2014/main" id="{6936AB98-FFE1-4E42-8E47-1623350B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18573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EB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已通过</a:t>
            </a:r>
          </a:p>
        </p:txBody>
      </p:sp>
      <p:sp>
        <p:nvSpPr>
          <p:cNvPr id="26" name="已驳回">
            <a:extLst xmlns:a="http://schemas.openxmlformats.org/drawingml/2006/main">
              <a:ext uri="{FF2B5EF4-FFF2-40B4-BE49-F238E27FC236}">
                <a16:creationId xmlns:a16="http://schemas.microsoft.com/office/drawing/2014/main" id="{8CEF5C5B-62B3-4916-BE29-70BEA96E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57625"/>
            <a:ext cx="18573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已驳回</a:t>
            </a:r>
          </a:p>
        </p:txBody>
      </p:sp>
      <p:sp>
        <p:nvSpPr>
          <p:cNvPr id="27" name="已撤回">
            <a:extLst xmlns:a="http://schemas.openxmlformats.org/drawingml/2006/main">
              <a:ext uri="{FF2B5EF4-FFF2-40B4-BE49-F238E27FC236}">
                <a16:creationId xmlns:a16="http://schemas.microsoft.com/office/drawing/2014/main" id="{8F5343B9-5FA2-475F-9F40-8416D247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81625"/>
            <a:ext cx="18573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已撤回</a:t>
            </a:r>
          </a:p>
        </p:txBody>
      </p:sp>
      <p:cxnSp>
        <p:nvCxnSpPr>
          <p:cNvPr id="28" name="edge-133">
            <a:extLst xmlns:a="http://schemas.openxmlformats.org/drawingml/2006/main">
              <a:ext uri="{FF2B5EF4-FFF2-40B4-BE49-F238E27FC236}">
                <a16:creationId xmlns:a16="http://schemas.microsoft.com/office/drawing/2014/main" id="{D89C56E0-2868-4D80-97EB-C474AA83D065}"/>
              </a:ext>
            </a:extLst>
          </p:cNvPr>
          <p:cNvCxnSpPr/>
          <p:nvPr/>
        </p:nvCxnSpPr>
        <p:spPr>
          <a:xfrm xmlns:a="http://schemas.openxmlformats.org/drawingml/2006/main" rot="0">
            <a:off x="7791450" y="2619375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9" name="edge-134">
            <a:extLst xmlns:a="http://schemas.openxmlformats.org/drawingml/2006/main">
              <a:ext uri="{FF2B5EF4-FFF2-40B4-BE49-F238E27FC236}">
                <a16:creationId xmlns:a16="http://schemas.microsoft.com/office/drawing/2014/main" id="{A13E70A3-9228-4D7A-A299-74117D2D0400}"/>
              </a:ext>
            </a:extLst>
          </p:cNvPr>
          <p:cNvCxnSpPr/>
          <p:nvPr/>
        </p:nvCxnSpPr>
        <p:spPr>
          <a:xfrm xmlns:a="http://schemas.openxmlformats.org/drawingml/2006/main" rot="10800000">
            <a:off x="8734425" y="24955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30" name="edge-135">
            <a:extLst xmlns:a="http://schemas.openxmlformats.org/drawingml/2006/main">
              <a:ext uri="{FF2B5EF4-FFF2-40B4-BE49-F238E27FC236}">
                <a16:creationId xmlns:a16="http://schemas.microsoft.com/office/drawing/2014/main" id="{1E9F04CA-E6A4-4629-95B6-95F3BCFC7971}"/>
              </a:ext>
            </a:extLst>
          </p:cNvPr>
          <p:cNvCxnSpPr/>
          <p:nvPr/>
        </p:nvCxnSpPr>
        <p:spPr>
          <a:xfrm xmlns:a="http://schemas.openxmlformats.org/drawingml/2006/main" rot="0">
            <a:off x="8734425" y="2495550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31" name="text-136">
            <a:extLst xmlns:a="http://schemas.openxmlformats.org/drawingml/2006/main">
              <a:ext uri="{FF2B5EF4-FFF2-40B4-BE49-F238E27FC236}">
                <a16:creationId xmlns:a16="http://schemas.microsoft.com/office/drawing/2014/main" id="{0D0632CE-4C2E-4ACD-A65F-5A6AB278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430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审核通过</a:t>
            </a:r>
          </a:p>
        </p:txBody>
      </p:sp>
      <p:cxnSp>
        <p:nvCxnSpPr>
          <p:cNvPr id="32" name="edge-137">
            <a:extLst xmlns:a="http://schemas.openxmlformats.org/drawingml/2006/main">
              <a:ext uri="{FF2B5EF4-FFF2-40B4-BE49-F238E27FC236}">
                <a16:creationId xmlns:a16="http://schemas.microsoft.com/office/drawing/2014/main" id="{47FEE345-3DF2-4E57-8D0F-17FB4D9A1555}"/>
              </a:ext>
            </a:extLst>
          </p:cNvPr>
          <p:cNvCxnSpPr/>
          <p:nvPr/>
        </p:nvCxnSpPr>
        <p:spPr>
          <a:xfrm xmlns:a="http://schemas.openxmlformats.org/drawingml/2006/main" rot="0">
            <a:off x="7791450" y="281940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33" name="edge-138">
            <a:extLst xmlns:a="http://schemas.openxmlformats.org/drawingml/2006/main">
              <a:ext uri="{FF2B5EF4-FFF2-40B4-BE49-F238E27FC236}">
                <a16:creationId xmlns:a16="http://schemas.microsoft.com/office/drawing/2014/main" id="{4370D372-B085-4BB9-8028-07EA447C9E7C}"/>
              </a:ext>
            </a:extLst>
          </p:cNvPr>
          <p:cNvCxnSpPr/>
          <p:nvPr/>
        </p:nvCxnSpPr>
        <p:spPr>
          <a:xfrm xmlns:a="http://schemas.openxmlformats.org/drawingml/2006/main" rot="0">
            <a:off x="8629650" y="2819400"/>
            <a:ext cx="0" cy="13430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34" name="edge-139">
            <a:extLst xmlns:a="http://schemas.openxmlformats.org/drawingml/2006/main">
              <a:ext uri="{FF2B5EF4-FFF2-40B4-BE49-F238E27FC236}">
                <a16:creationId xmlns:a16="http://schemas.microsoft.com/office/drawing/2014/main" id="{2CCC76DB-476D-481F-B723-0FBF7F2B61C6}"/>
              </a:ext>
            </a:extLst>
          </p:cNvPr>
          <p:cNvCxnSpPr/>
          <p:nvPr/>
        </p:nvCxnSpPr>
        <p:spPr>
          <a:xfrm xmlns:a="http://schemas.openxmlformats.org/drawingml/2006/main" rot="0">
            <a:off x="8629650" y="41624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35" name="text-140">
            <a:extLst xmlns:a="http://schemas.openxmlformats.org/drawingml/2006/main">
              <a:ext uri="{FF2B5EF4-FFF2-40B4-BE49-F238E27FC236}">
                <a16:creationId xmlns:a16="http://schemas.microsoft.com/office/drawing/2014/main" id="{92D7260B-E8B1-46BE-8CF1-AF6131E3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3432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驳回或归属冲突</a:t>
            </a:r>
          </a:p>
        </p:txBody>
      </p:sp>
      <p:cxnSp>
        <p:nvCxnSpPr>
          <p:cNvPr id="36" name="edge-141">
            <a:extLst xmlns:a="http://schemas.openxmlformats.org/drawingml/2006/main">
              <a:ext uri="{FF2B5EF4-FFF2-40B4-BE49-F238E27FC236}">
                <a16:creationId xmlns:a16="http://schemas.microsoft.com/office/drawing/2014/main" id="{9C98C40D-2044-4B81-8CD5-C6D63B0804C9}"/>
              </a:ext>
            </a:extLst>
          </p:cNvPr>
          <p:cNvCxnSpPr/>
          <p:nvPr/>
        </p:nvCxnSpPr>
        <p:spPr>
          <a:xfrm xmlns:a="http://schemas.openxmlformats.org/drawingml/2006/main" rot="0">
            <a:off x="7524750" y="5334000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37" name="edge-142">
            <a:extLst xmlns:a="http://schemas.openxmlformats.org/drawingml/2006/main">
              <a:ext uri="{FF2B5EF4-FFF2-40B4-BE49-F238E27FC236}">
                <a16:creationId xmlns:a16="http://schemas.microsoft.com/office/drawing/2014/main" id="{64235F13-BD91-4C59-A880-2A6EF2DA5E07}"/>
              </a:ext>
            </a:extLst>
          </p:cNvPr>
          <p:cNvCxnSpPr/>
          <p:nvPr/>
        </p:nvCxnSpPr>
        <p:spPr>
          <a:xfrm xmlns:a="http://schemas.openxmlformats.org/drawingml/2006/main" rot="0">
            <a:off x="7524750" y="5686425"/>
            <a:ext cx="18859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38" name="text-143">
            <a:extLst xmlns:a="http://schemas.openxmlformats.org/drawingml/2006/main">
              <a:ext uri="{FF2B5EF4-FFF2-40B4-BE49-F238E27FC236}">
                <a16:creationId xmlns:a16="http://schemas.microsoft.com/office/drawing/2014/main" id="{BA203442-BA78-425A-BFAB-64BE838F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1495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申请人撤回</a:t>
            </a:r>
          </a:p>
        </p:txBody>
      </p:sp>
      <p:sp>
        <p:nvSpPr>
          <p:cNvPr id="39" name="text-144">
            <a:extLst xmlns:a="http://schemas.openxmlformats.org/drawingml/2006/main">
              <a:ext uri="{FF2B5EF4-FFF2-40B4-BE49-F238E27FC236}">
                <a16:creationId xmlns:a16="http://schemas.microsoft.com/office/drawing/2014/main" id="{C525D82B-0569-464A-A558-BFF9144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704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撤回后的申请不能再被批准。</a:t>
            </a:r>
          </a:p>
        </p:txBody>
      </p:sp>
      <p:sp>
        <p:nvSpPr>
          <p:cNvPr id="40" name="text-145">
            <a:extLst xmlns:a="http://schemas.openxmlformats.org/drawingml/2006/main">
              <a:ext uri="{FF2B5EF4-FFF2-40B4-BE49-F238E27FC236}">
                <a16:creationId xmlns:a16="http://schemas.microsoft.com/office/drawing/2014/main" id="{015C1D84-3333-4612-AC87-A0A06EB9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右侧三种状态均为终态，再次申请需新建申请。</a:t>
            </a:r>
          </a:p>
        </p:txBody>
      </p:sp>
    </p:spTree>
    <p:extLst>
      <p:ext uri="{BB962C8B-B14F-4D97-AF65-F5344CB8AC3E}">
        <p14:creationId xmlns:p14="http://schemas.microsoft.com/office/powerpoint/2010/main" val="12169306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ext-146">
            <a:extLst xmlns:a="http://schemas.openxmlformats.org/drawingml/2006/main">
              <a:ext uri="{FF2B5EF4-FFF2-40B4-BE49-F238E27FC236}">
                <a16:creationId xmlns:a16="http://schemas.microsoft.com/office/drawing/2014/main" id="{5B4EDC4D-623E-44CE-BB46-B3B160E2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采集状态图：临时错误可重试，停止后不再入库</a:t>
            </a:r>
          </a:p>
        </p:txBody>
      </p:sp>
      <p:sp>
        <p:nvSpPr>
          <p:cNvPr id="2" name="text-147">
            <a:extLst xmlns:a="http://schemas.openxmlformats.org/drawingml/2006/main">
              <a:ext uri="{FF2B5EF4-FFF2-40B4-BE49-F238E27FC236}">
                <a16:creationId xmlns:a16="http://schemas.microsoft.com/office/drawing/2014/main" id="{68644FFB-8B64-41E4-9307-9B8F09D4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diagram-148">
            <a:extLst xmlns:a="http://schemas.openxmlformats.org/drawingml/2006/main">
              <a:ext uri="{FF2B5EF4-FFF2-40B4-BE49-F238E27FC236}">
                <a16:creationId xmlns:a16="http://schemas.microsoft.com/office/drawing/2014/main" id="{850CEC9E-BF81-4A5F-BEEC-C6E2FBC9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620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8F9F5"/>
          </a:solidFill>
          <a:ln xmlns:a="http://schemas.openxmlformats.org/drawingml/2006/main" w="14288">
            <a:solidFill>
              <a:srgbClr val="C7D2CB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text-149">
            <a:extLst xmlns:a="http://schemas.openxmlformats.org/drawingml/2006/main">
              <a:ext uri="{FF2B5EF4-FFF2-40B4-BE49-F238E27FC236}">
                <a16:creationId xmlns:a16="http://schemas.microsoft.com/office/drawing/2014/main" id="{93053CD0-5340-4EB0-ADD9-A5E12369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可停止的任务状态</a:t>
            </a:r>
          </a:p>
        </p:txBody>
      </p:sp>
      <p:sp>
        <p:nvSpPr>
          <p:cNvPr id="5" name="diagram-150">
            <a:extLst xmlns:a="http://schemas.openxmlformats.org/drawingml/2006/main">
              <a:ext uri="{FF2B5EF4-FFF2-40B4-BE49-F238E27FC236}">
                <a16:creationId xmlns:a16="http://schemas.microsoft.com/office/drawing/2014/main" id="{A1C55587-BA11-4EA9-9EC0-B174AD88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628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E38"/>
          </a:solidFill>
          <a:ln xmlns:a="http://schemas.openxmlformats.org/drawingml/2006/main" w="14288">
            <a:solidFill>
              <a:srgbClr val="173E38"/>
            </a:solidFill>
          </a:ln>
        </p:spPr>
      </p:sp>
      <p:sp>
        <p:nvSpPr>
          <p:cNvPr id="6" name="待执行">
            <a:extLst xmlns:a="http://schemas.openxmlformats.org/drawingml/2006/main">
              <a:ext uri="{FF2B5EF4-FFF2-40B4-BE49-F238E27FC236}">
                <a16:creationId xmlns:a16="http://schemas.microsoft.com/office/drawing/2014/main" id="{D05EE880-A6B0-4F34-AEDB-C095861A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419350"/>
            <a:ext cx="16383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待执行</a:t>
            </a:r>
          </a:p>
        </p:txBody>
      </p:sp>
      <p:sp>
        <p:nvSpPr>
          <p:cNvPr id="7" name="运行中">
            <a:extLst xmlns:a="http://schemas.openxmlformats.org/drawingml/2006/main">
              <a:ext uri="{FF2B5EF4-FFF2-40B4-BE49-F238E27FC236}">
                <a16:creationId xmlns:a16="http://schemas.microsoft.com/office/drawing/2014/main" id="{47374234-28EC-4127-BB52-F5E0FE76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1714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运行中</a:t>
            </a:r>
          </a:p>
        </p:txBody>
      </p:sp>
      <p:cxnSp>
        <p:nvCxnSpPr>
          <p:cNvPr id="8" name="edge-151">
            <a:extLst xmlns:a="http://schemas.openxmlformats.org/drawingml/2006/main">
              <a:ext uri="{FF2B5EF4-FFF2-40B4-BE49-F238E27FC236}">
                <a16:creationId xmlns:a16="http://schemas.microsoft.com/office/drawing/2014/main" id="{6829DE73-E652-4BC9-BA76-592195F26EB9}"/>
              </a:ext>
            </a:extLst>
          </p:cNvPr>
          <p:cNvCxnSpPr/>
          <p:nvPr/>
        </p:nvCxnSpPr>
        <p:spPr>
          <a:xfrm xmlns:a="http://schemas.openxmlformats.org/drawingml/2006/main" rot="0">
            <a:off x="1038225" y="27146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cxnSp>
        <p:nvCxnSpPr>
          <p:cNvPr id="9" name="edge-152">
            <a:extLst xmlns:a="http://schemas.openxmlformats.org/drawingml/2006/main">
              <a:ext uri="{FF2B5EF4-FFF2-40B4-BE49-F238E27FC236}">
                <a16:creationId xmlns:a16="http://schemas.microsoft.com/office/drawing/2014/main" id="{827C258B-1151-4F49-9102-F22E8334FB71}"/>
              </a:ext>
            </a:extLst>
          </p:cNvPr>
          <p:cNvCxnSpPr/>
          <p:nvPr/>
        </p:nvCxnSpPr>
        <p:spPr>
          <a:xfrm xmlns:a="http://schemas.openxmlformats.org/drawingml/2006/main" rot="0">
            <a:off x="2943225" y="2714625"/>
            <a:ext cx="17240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10" name="text-153">
            <a:extLst xmlns:a="http://schemas.openxmlformats.org/drawingml/2006/main">
              <a:ext uri="{FF2B5EF4-FFF2-40B4-BE49-F238E27FC236}">
                <a16:creationId xmlns:a16="http://schemas.microsoft.com/office/drawing/2014/main" id="{C18D8B75-09EA-4A3B-B903-2405E35B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24100"/>
            <a:ext cx="866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</p:txBody>
      </p:sp>
      <p:sp>
        <p:nvSpPr>
          <p:cNvPr id="11" name="重试">
            <a:extLst xmlns:a="http://schemas.openxmlformats.org/drawingml/2006/main">
              <a:ext uri="{FF2B5EF4-FFF2-40B4-BE49-F238E27FC236}">
                <a16:creationId xmlns:a16="http://schemas.microsoft.com/office/drawing/2014/main" id="{16723D57-0535-4F39-A925-445928C4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95775"/>
            <a:ext cx="1714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重试</a:t>
            </a:r>
          </a:p>
        </p:txBody>
      </p:sp>
      <p:cxnSp>
        <p:nvCxnSpPr>
          <p:cNvPr id="12" name="edge-154">
            <a:extLst xmlns:a="http://schemas.openxmlformats.org/drawingml/2006/main">
              <a:ext uri="{FF2B5EF4-FFF2-40B4-BE49-F238E27FC236}">
                <a16:creationId xmlns:a16="http://schemas.microsoft.com/office/drawing/2014/main" id="{B31902EF-8B57-49C1-8AC2-100E832EE74D}"/>
              </a:ext>
            </a:extLst>
          </p:cNvPr>
          <p:cNvCxnSpPr/>
          <p:nvPr/>
        </p:nvCxnSpPr>
        <p:spPr>
          <a:xfrm xmlns:a="http://schemas.openxmlformats.org/drawingml/2006/main" rot="0">
            <a:off x="5524500" y="3028950"/>
            <a:ext cx="0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13" name="text-155">
            <a:extLst xmlns:a="http://schemas.openxmlformats.org/drawingml/2006/main">
              <a:ext uri="{FF2B5EF4-FFF2-40B4-BE49-F238E27FC236}">
                <a16:creationId xmlns:a16="http://schemas.microsoft.com/office/drawing/2014/main" id="{FC319613-78B2-4C44-9FB2-33C6997A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295650"/>
            <a:ext cx="2219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临时失败</a:t>
            </a:r>
          </a:p>
          <a:p xmlns:a="http://schemas.openxmlformats.org/drawingml/2006/main">
            <a: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[未达重试上限]</a:t>
            </a:r>
          </a:p>
        </p:txBody>
      </p:sp>
      <p:cxnSp>
        <p:nvCxnSpPr>
          <p:cNvPr id="14" name="edge-156">
            <a:extLst xmlns:a="http://schemas.openxmlformats.org/drawingml/2006/main">
              <a:ext uri="{FF2B5EF4-FFF2-40B4-BE49-F238E27FC236}">
                <a16:creationId xmlns:a16="http://schemas.microsoft.com/office/drawing/2014/main" id="{674D0439-5D1C-4C35-A8A2-B9A7061192BB}"/>
              </a:ext>
            </a:extLst>
          </p:cNvPr>
          <p:cNvCxnSpPr/>
          <p:nvPr/>
        </p:nvCxnSpPr>
        <p:spPr>
          <a:xfrm xmlns:a="http://schemas.openxmlformats.org/drawingml/2006/main" rot="10800000">
            <a:off x="4276725" y="4600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15" name="edge-157">
            <a:extLst xmlns:a="http://schemas.openxmlformats.org/drawingml/2006/main">
              <a:ext uri="{FF2B5EF4-FFF2-40B4-BE49-F238E27FC236}">
                <a16:creationId xmlns:a16="http://schemas.microsoft.com/office/drawing/2014/main" id="{81FC80CF-A25D-4E07-B356-98654A9C3F05}"/>
              </a:ext>
            </a:extLst>
          </p:cNvPr>
          <p:cNvCxnSpPr/>
          <p:nvPr/>
        </p:nvCxnSpPr>
        <p:spPr>
          <a:xfrm xmlns:a="http://schemas.openxmlformats.org/drawingml/2006/main" rot="10800000">
            <a:off x="4276725" y="336232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16" name="edge-158">
            <a:extLst xmlns:a="http://schemas.openxmlformats.org/drawingml/2006/main">
              <a:ext uri="{FF2B5EF4-FFF2-40B4-BE49-F238E27FC236}">
                <a16:creationId xmlns:a16="http://schemas.microsoft.com/office/drawing/2014/main" id="{FE43347A-08CB-48C9-9B38-86E3FC0B8AB0}"/>
              </a:ext>
            </a:extLst>
          </p:cNvPr>
          <p:cNvCxnSpPr/>
          <p:nvPr/>
        </p:nvCxnSpPr>
        <p:spPr>
          <a:xfrm xmlns:a="http://schemas.openxmlformats.org/drawingml/2006/main" rot="0">
            <a:off x="4276725" y="33623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17" name="edge-159">
            <a:extLst xmlns:a="http://schemas.openxmlformats.org/drawingml/2006/main">
              <a:ext uri="{FF2B5EF4-FFF2-40B4-BE49-F238E27FC236}">
                <a16:creationId xmlns:a16="http://schemas.microsoft.com/office/drawing/2014/main" id="{E6C7AD7A-617D-4898-83C9-EA60086B3997}"/>
              </a:ext>
            </a:extLst>
          </p:cNvPr>
          <p:cNvCxnSpPr/>
          <p:nvPr/>
        </p:nvCxnSpPr>
        <p:spPr>
          <a:xfrm xmlns:a="http://schemas.openxmlformats.org/drawingml/2006/main" rot="10800000">
            <a:off x="4895850" y="302895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18" name="text-160">
            <a:extLst xmlns:a="http://schemas.openxmlformats.org/drawingml/2006/main">
              <a:ext uri="{FF2B5EF4-FFF2-40B4-BE49-F238E27FC236}">
                <a16:creationId xmlns:a16="http://schemas.microsoft.com/office/drawing/2014/main" id="{22CAF3CE-E969-4827-95D5-78987F2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48075"/>
            <a:ext cx="14573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等待后重试</a:t>
            </a:r>
          </a:p>
        </p:txBody>
      </p:sp>
      <p:sp>
        <p:nvSpPr>
          <p:cNvPr id="19" name="成功">
            <a:extLst xmlns:a="http://schemas.openxmlformats.org/drawingml/2006/main">
              <a:ext uri="{FF2B5EF4-FFF2-40B4-BE49-F238E27FC236}">
                <a16:creationId xmlns:a16="http://schemas.microsoft.com/office/drawing/2014/main" id="{D44BE748-916C-428F-82F3-59065753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33600"/>
            <a:ext cx="18573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1EB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成功</a:t>
            </a:r>
          </a:p>
        </p:txBody>
      </p:sp>
      <p:sp>
        <p:nvSpPr>
          <p:cNvPr id="20" name="失败">
            <a:extLst xmlns:a="http://schemas.openxmlformats.org/drawingml/2006/main">
              <a:ext uri="{FF2B5EF4-FFF2-40B4-BE49-F238E27FC236}">
                <a16:creationId xmlns:a16="http://schemas.microsoft.com/office/drawing/2014/main" id="{B38C25C2-5B8A-4BDF-B2FC-BBA60AA8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29050"/>
            <a:ext cx="18573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21" name="已停止">
            <a:extLst xmlns:a="http://schemas.openxmlformats.org/drawingml/2006/main">
              <a:ext uri="{FF2B5EF4-FFF2-40B4-BE49-F238E27FC236}">
                <a16:creationId xmlns:a16="http://schemas.microsoft.com/office/drawing/2014/main" id="{60CCDE65-668E-42B8-885B-78599167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72100"/>
            <a:ext cx="18573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3E38"/>
            </a:solidFill>
          </a:ln>
        </p:spPr>
        <p:txBody>
          <a:bodyPr xmlns:a="http://schemas.openxmlformats.org/drawingml/2006/main" wrap="square" lIns="47625" tIns="47625" rIns="47625" bIns="47625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已停止</a:t>
            </a:r>
          </a:p>
        </p:txBody>
      </p:sp>
      <p:cxnSp>
        <p:nvCxnSpPr>
          <p:cNvPr id="22" name="edge-161">
            <a:extLst xmlns:a="http://schemas.openxmlformats.org/drawingml/2006/main">
              <a:ext uri="{FF2B5EF4-FFF2-40B4-BE49-F238E27FC236}">
                <a16:creationId xmlns:a16="http://schemas.microsoft.com/office/drawing/2014/main" id="{63B290C3-6CB1-4660-82FA-AC6053F4766C}"/>
              </a:ext>
            </a:extLst>
          </p:cNvPr>
          <p:cNvCxnSpPr/>
          <p:nvPr/>
        </p:nvCxnSpPr>
        <p:spPr>
          <a:xfrm xmlns:a="http://schemas.openxmlformats.org/drawingml/2006/main" rot="0">
            <a:off x="6381750" y="2590800"/>
            <a:ext cx="22098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3" name="edge-162">
            <a:extLst xmlns:a="http://schemas.openxmlformats.org/drawingml/2006/main">
              <a:ext uri="{FF2B5EF4-FFF2-40B4-BE49-F238E27FC236}">
                <a16:creationId xmlns:a16="http://schemas.microsoft.com/office/drawing/2014/main" id="{3A6FCA3B-8B1A-4166-9F76-C3150F7FC426}"/>
              </a:ext>
            </a:extLst>
          </p:cNvPr>
          <p:cNvCxnSpPr/>
          <p:nvPr/>
        </p:nvCxnSpPr>
        <p:spPr>
          <a:xfrm xmlns:a="http://schemas.openxmlformats.org/drawingml/2006/main" rot="10800000">
            <a:off x="8591550" y="24384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4" name="edge-163">
            <a:extLst xmlns:a="http://schemas.openxmlformats.org/drawingml/2006/main">
              <a:ext uri="{FF2B5EF4-FFF2-40B4-BE49-F238E27FC236}">
                <a16:creationId xmlns:a16="http://schemas.microsoft.com/office/drawing/2014/main" id="{FE71E3D0-71DA-4B80-93D3-1A4D98B9BA05}"/>
              </a:ext>
            </a:extLst>
          </p:cNvPr>
          <p:cNvCxnSpPr/>
          <p:nvPr/>
        </p:nvCxnSpPr>
        <p:spPr>
          <a:xfrm xmlns:a="http://schemas.openxmlformats.org/drawingml/2006/main" rot="0">
            <a:off x="8591550" y="24384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25" name="text-164">
            <a:extLst xmlns:a="http://schemas.openxmlformats.org/drawingml/2006/main">
              <a:ext uri="{FF2B5EF4-FFF2-40B4-BE49-F238E27FC236}">
                <a16:creationId xmlns:a16="http://schemas.microsoft.com/office/drawing/2014/main" id="{8A15CEC8-FD1D-4BEB-9A74-67B72707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14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全部页处理完</a:t>
            </a:r>
          </a:p>
        </p:txBody>
      </p:sp>
      <p:cxnSp>
        <p:nvCxnSpPr>
          <p:cNvPr id="26" name="edge-165">
            <a:extLst xmlns:a="http://schemas.openxmlformats.org/drawingml/2006/main">
              <a:ext uri="{FF2B5EF4-FFF2-40B4-BE49-F238E27FC236}">
                <a16:creationId xmlns:a16="http://schemas.microsoft.com/office/drawing/2014/main" id="{C4DBB5D1-1675-4BFD-BBE6-CC9ED8BC5846}"/>
              </a:ext>
            </a:extLst>
          </p:cNvPr>
          <p:cNvCxnSpPr/>
          <p:nvPr/>
        </p:nvCxnSpPr>
        <p:spPr>
          <a:xfrm xmlns:a="http://schemas.openxmlformats.org/drawingml/2006/main" rot="0">
            <a:off x="6381750" y="2847975"/>
            <a:ext cx="23241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7" name="edge-166">
            <a:extLst xmlns:a="http://schemas.openxmlformats.org/drawingml/2006/main">
              <a:ext uri="{FF2B5EF4-FFF2-40B4-BE49-F238E27FC236}">
                <a16:creationId xmlns:a16="http://schemas.microsoft.com/office/drawing/2014/main" id="{9C033857-0D8E-4648-9F95-3D8EA612D06D}"/>
              </a:ext>
            </a:extLst>
          </p:cNvPr>
          <p:cNvCxnSpPr/>
          <p:nvPr/>
        </p:nvCxnSpPr>
        <p:spPr>
          <a:xfrm xmlns:a="http://schemas.openxmlformats.org/drawingml/2006/main" rot="0">
            <a:off x="8705850" y="2847975"/>
            <a:ext cx="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28" name="edge-167">
            <a:extLst xmlns:a="http://schemas.openxmlformats.org/drawingml/2006/main">
              <a:ext uri="{FF2B5EF4-FFF2-40B4-BE49-F238E27FC236}">
                <a16:creationId xmlns:a16="http://schemas.microsoft.com/office/drawing/2014/main" id="{C1D92E3B-5B34-4A94-AF90-235214756C0F}"/>
              </a:ext>
            </a:extLst>
          </p:cNvPr>
          <p:cNvCxnSpPr/>
          <p:nvPr/>
        </p:nvCxnSpPr>
        <p:spPr>
          <a:xfrm xmlns:a="http://schemas.openxmlformats.org/drawingml/2006/main" rot="0">
            <a:off x="8705850" y="4133850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29" name="text-168">
            <a:extLst xmlns:a="http://schemas.openxmlformats.org/drawingml/2006/main">
              <a:ext uri="{FF2B5EF4-FFF2-40B4-BE49-F238E27FC236}">
                <a16:creationId xmlns:a16="http://schemas.microsoft.com/office/drawing/2014/main" id="{5D30128F-CA91-4AD5-B545-761D68C1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4800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不可恢复</a:t>
            </a:r>
          </a:p>
          <a:p xmlns:a="http://schemas.openxmlformats.org/drawingml/2006/main">
            <a:pPr algn="ctr">
              <a:def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或重试耗尽</a:t>
            </a:r>
          </a:p>
        </p:txBody>
      </p:sp>
      <p:cxnSp>
        <p:nvCxnSpPr>
          <p:cNvPr id="30" name="edge-169">
            <a:extLst xmlns:a="http://schemas.openxmlformats.org/drawingml/2006/main">
              <a:ext uri="{FF2B5EF4-FFF2-40B4-BE49-F238E27FC236}">
                <a16:creationId xmlns:a16="http://schemas.microsoft.com/office/drawing/2014/main" id="{8FCFB2A8-12BA-46AB-9498-5614C74AF045}"/>
              </a:ext>
            </a:extLst>
          </p:cNvPr>
          <p:cNvCxnSpPr/>
          <p:nvPr/>
        </p:nvCxnSpPr>
        <p:spPr>
          <a:xfrm xmlns:a="http://schemas.openxmlformats.org/drawingml/2006/main" rot="0">
            <a:off x="7524750" y="5334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</a:ln>
        </p:spPr>
      </p:cxnSp>
      <p:cxnSp>
        <p:nvCxnSpPr>
          <p:cNvPr id="31" name="edge-170">
            <a:extLst xmlns:a="http://schemas.openxmlformats.org/drawingml/2006/main">
              <a:ext uri="{FF2B5EF4-FFF2-40B4-BE49-F238E27FC236}">
                <a16:creationId xmlns:a16="http://schemas.microsoft.com/office/drawing/2014/main" id="{FD5D3E18-6AD0-4560-AF85-C618BF33039D}"/>
              </a:ext>
            </a:extLst>
          </p:cNvPr>
          <p:cNvCxnSpPr/>
          <p:nvPr/>
        </p:nvCxnSpPr>
        <p:spPr>
          <a:xfrm xmlns:a="http://schemas.openxmlformats.org/drawingml/2006/main" rot="0">
            <a:off x="7524750" y="5676900"/>
            <a:ext cx="18859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3E38"/>
            </a:solidFill>
            <a:tailEnd type="arrow" w="med" len="med"/>
          </a:ln>
        </p:spPr>
      </p:cxnSp>
      <p:sp>
        <p:nvSpPr>
          <p:cNvPr id="32" name="text-171">
            <a:extLst xmlns:a="http://schemas.openxmlformats.org/drawingml/2006/main">
              <a:ext uri="{FF2B5EF4-FFF2-40B4-BE49-F238E27FC236}">
                <a16:creationId xmlns:a16="http://schemas.microsoft.com/office/drawing/2014/main" id="{10F96906-81E0-4EF8-B0C9-465CC23A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3149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管理员停止</a:t>
            </a:r>
          </a:p>
        </p:txBody>
      </p:sp>
      <p:sp>
        <p:nvSpPr>
          <p:cNvPr id="33" name="text-172">
            <a:extLst xmlns:a="http://schemas.openxmlformats.org/drawingml/2006/main">
              <a:ext uri="{FF2B5EF4-FFF2-40B4-BE49-F238E27FC236}">
                <a16:creationId xmlns:a16="http://schemas.microsoft.com/office/drawing/2014/main" id="{65DD6EB8-9031-4ACC-A877-CBFAFB7B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7686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停止后保留已提交数据，恢复时创建新任务。</a:t>
            </a:r>
          </a:p>
        </p:txBody>
      </p:sp>
      <p:sp>
        <p:nvSpPr>
          <p:cNvPr id="34" name="text-173">
            <a:extLst xmlns:a="http://schemas.openxmlformats.org/drawingml/2006/main">
              <a:ext uri="{FF2B5EF4-FFF2-40B4-BE49-F238E27FC236}">
                <a16:creationId xmlns:a16="http://schemas.microsoft.com/office/drawing/2014/main" id="{7C74A1AD-CC85-4AF8-AF63-966F78BC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临时错误最多重试3次，异常记录数量单独报告。</a:t>
            </a:r>
          </a:p>
        </p:txBody>
      </p:sp>
    </p:spTree>
    <p:extLst>
      <p:ext uri="{BB962C8B-B14F-4D97-AF65-F5344CB8AC3E}">
        <p14:creationId xmlns:p14="http://schemas.microsoft.com/office/powerpoint/2010/main" val="4587670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74">
            <a:extLst xmlns:a="http://schemas.openxmlformats.org/drawingml/2006/main">
              <a:ext uri="{FF2B5EF4-FFF2-40B4-BE49-F238E27FC236}">
                <a16:creationId xmlns:a16="http://schemas.microsoft.com/office/drawing/2014/main" id="{E627A25E-D7EE-4EAE-B7FB-38985444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核心开发规范（SPEC）</a:t>
            </a:r>
          </a:p>
        </p:txBody>
      </p:sp>
      <p:sp>
        <p:nvSpPr>
          <p:cNvPr id="2" name="text-175">
            <a:extLst xmlns:a="http://schemas.openxmlformats.org/drawingml/2006/main">
              <a:ext uri="{FF2B5EF4-FFF2-40B4-BE49-F238E27FC236}">
                <a16:creationId xmlns:a16="http://schemas.microsoft.com/office/drawing/2014/main" id="{F8F584C5-4145-434F-BAE8-79C46930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text-176">
            <a:extLst xmlns:a="http://schemas.openxmlformats.org/drawingml/2006/main">
              <a:ext uri="{FF2B5EF4-FFF2-40B4-BE49-F238E27FC236}">
                <a16:creationId xmlns:a16="http://schemas.microsoft.com/office/drawing/2014/main" id="{DAFEA9A0-C45C-460E-A374-EF383045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同一类输入使用同一规则，疑点保留证据并交人工复核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15C90-8106-42AB-9902-2CBBC639A7DD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109728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4524375"/>
                <a:gridCol w="4781550"/>
              </a:tblGrid>
              <a:tr h="5048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T w="6668">
                      <a:solidFill>
                        <a:srgbClr val="C7D2CB"/>
                      </a:solidFill>
                    </a:lnT>
                    <a:lnB w="6668">
                      <a:solidFill>
                        <a:srgbClr val="C7D2CB"/>
                      </a:solidFill>
                    </a:lnB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处理原则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T w="6668">
                      <a:solidFill>
                        <a:srgbClr val="C7D2CB"/>
                      </a:solidFill>
                    </a:lnT>
                    <a:lnB w="6668">
                      <a:solidFill>
                        <a:srgbClr val="C7D2CB"/>
                      </a:solidFill>
                    </a:lnB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例子或可见结果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T w="6668">
                      <a:solidFill>
                        <a:srgbClr val="C7D2CB"/>
                      </a:solidFill>
                    </a:lnT>
                    <a:lnB w="6668">
                      <a:solidFill>
                        <a:srgbClr val="C7D2CB"/>
                      </a:solidFill>
                    </a:lnB>
                    <a:solidFill>
                      <a:srgbClr val="E8F1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数据清洗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规范化标识格式</a:t>
                      </a:r>
                    </a:p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缺失关键词保持为空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同一DOI的大小写、前缀写法统一</a:t>
                      </a:r>
                    </a:p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同时保留来源与原始字段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成果去重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可靠标识相同且信息无冲突</a:t>
                      </a:r>
                    </a:p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才关联到同一成果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同一论文来自两个平台</a:t>
                      </a:r>
                    </a:p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显示一个成果，保留两份来源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作者消歧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身份标识优先</a:t>
                      </a:r>
                    </a:p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姓名、机构等线索辅助人工复核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两位同名“张伟”保持独立</a:t>
                      </a:r>
                    </a:p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相似程度只决定复核顺序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检索排序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成果先看精确DOI、完整题名命中</a:t>
                      </a:r>
                    </a:p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其余按字段相关度排序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同等条件下题名比关键词更重要</a:t>
                      </a:r>
                    </a:p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同名学者分别列出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177">
            <a:extLst xmlns:a="http://schemas.openxmlformats.org/drawingml/2006/main">
              <a:ext uri="{FF2B5EF4-FFF2-40B4-BE49-F238E27FC236}">
                <a16:creationId xmlns:a16="http://schemas.microsoft.com/office/drawing/2014/main" id="{414D85FA-044C-416A-AC02-32B6DC2C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以上为规则示例；完整算法、阈值、稳定排序及异常分支见SPEC。</a:t>
            </a:r>
          </a:p>
        </p:txBody>
      </p:sp>
    </p:spTree>
    <p:extLst>
      <p:ext uri="{BB962C8B-B14F-4D97-AF65-F5344CB8AC3E}">
        <p14:creationId xmlns:p14="http://schemas.microsoft.com/office/powerpoint/2010/main" val="20590597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78">
            <a:extLst xmlns:a="http://schemas.openxmlformats.org/drawingml/2006/main">
              <a:ext uri="{FF2B5EF4-FFF2-40B4-BE49-F238E27FC236}">
                <a16:creationId xmlns:a16="http://schemas.microsoft.com/office/drawing/2014/main" id="{4650628F-CB55-4764-ADB1-5B956685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需求规格说明书（SRS）与验收</a:t>
            </a:r>
          </a:p>
        </p:txBody>
      </p:sp>
      <p:sp>
        <p:nvSpPr>
          <p:cNvPr id="2" name="text-179">
            <a:extLst xmlns:a="http://schemas.openxmlformats.org/drawingml/2006/main">
              <a:ext uri="{FF2B5EF4-FFF2-40B4-BE49-F238E27FC236}">
                <a16:creationId xmlns:a16="http://schemas.microsoft.com/office/drawing/2014/main" id="{268F0784-03E3-4610-98D6-53585AC5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-180">
            <a:extLst xmlns:a="http://schemas.openxmlformats.org/drawingml/2006/main">
              <a:ext uri="{FF2B5EF4-FFF2-40B4-BE49-F238E27FC236}">
                <a16:creationId xmlns:a16="http://schemas.microsoft.com/office/drawing/2014/main" id="{0C4D467C-A674-4089-9463-9A423169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753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贯穿案例：安全认领本人门户</a:t>
            </a:r>
          </a:p>
        </p:txBody>
      </p:sp>
      <p:sp>
        <p:nvSpPr>
          <p:cNvPr id="4" name="text-181">
            <a:extLst xmlns:a="http://schemas.openxmlformats.org/drawingml/2006/main">
              <a:ext uri="{FF2B5EF4-FFF2-40B4-BE49-F238E27FC236}">
                <a16:creationId xmlns:a16="http://schemas.microsoft.com/office/drawing/2014/main" id="{BCABDB21-BBD1-492F-B528-8E79CFF1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810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作为科研人员，我希望认领本人门户，</a:t>
            </a:r>
          </a:p>
          <a:p xmlns:a="http://schemas.openxmlformats.org/drawingml/2006/main">
            <a:pPr algn="l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以便维护自己的成果。</a:t>
            </a:r>
          </a:p>
        </p:txBody>
      </p:sp>
      <p:sp>
        <p:nvSpPr>
          <p:cNvPr id="5" name="text-182">
            <a:extLst xmlns:a="http://schemas.openxmlformats.org/drawingml/2006/main">
              <a:ext uri="{FF2B5EF4-FFF2-40B4-BE49-F238E27FC236}">
                <a16:creationId xmlns:a16="http://schemas.microsoft.com/office/drawing/2014/main" id="{F15095AB-C7D7-4434-A570-181806E5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5810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模型中的约束</a:t>
            </a:r>
          </a:p>
        </p:txBody>
      </p:sp>
      <p:sp>
        <p:nvSpPr>
          <p:cNvPr id="6" name="text-183">
            <a:extLst xmlns:a="http://schemas.openxmlformats.org/drawingml/2006/main">
              <a:ext uri="{FF2B5EF4-FFF2-40B4-BE49-F238E27FC236}">
                <a16:creationId xmlns:a16="http://schemas.microsoft.com/office/drawing/2014/main" id="{DD939E66-B650-49E3-9071-A02FCD6F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590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通过后开放维护权限</a:t>
            </a:r>
          </a:p>
          <a:p xmlns:a="http://schemas.openxmlformats.org/drawingml/2006/main">
            <a:pPr algn="l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同一门户只允许一个有效所有者</a:t>
            </a:r>
          </a:p>
        </p:txBody>
      </p:sp>
      <p:sp>
        <p:nvSpPr>
          <p:cNvPr id="7" name="text-184">
            <a:extLst xmlns:a="http://schemas.openxmlformats.org/drawingml/2006/main">
              <a:ext uri="{FF2B5EF4-FFF2-40B4-BE49-F238E27FC236}">
                <a16:creationId xmlns:a16="http://schemas.microsoft.com/office/drawing/2014/main" id="{CDE31913-8415-4D03-BF38-48913FFE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5810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验收时检查</a:t>
            </a:r>
          </a:p>
        </p:txBody>
      </p:sp>
      <p:sp>
        <p:nvSpPr>
          <p:cNvPr id="8" name="text-185">
            <a:extLst xmlns:a="http://schemas.openxmlformats.org/drawingml/2006/main">
              <a:ext uri="{FF2B5EF4-FFF2-40B4-BE49-F238E27FC236}">
                <a16:creationId xmlns:a16="http://schemas.microsoft.com/office/drawing/2014/main" id="{1276A2D8-30DF-496D-9C64-3512E963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595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并发批准同一门户的不同申请</a:t>
            </a:r>
          </a:p>
          <a:p xmlns:a="http://schemas.openxmlformats.org/drawingml/2006/main">
            <a:pPr algn="l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最多一个成功，并能查到审核记录</a:t>
            </a:r>
          </a:p>
        </p:txBody>
      </p:sp>
      <p:sp>
        <p:nvSpPr>
          <p:cNvPr id="9" name="text-186">
            <a:extLst xmlns:a="http://schemas.openxmlformats.org/drawingml/2006/main">
              <a:ext uri="{FF2B5EF4-FFF2-40B4-BE49-F238E27FC236}">
                <a16:creationId xmlns:a16="http://schemas.microsoft.com/office/drawing/2014/main" id="{8AC3B421-5731-4BB4-9ECA-7E975A26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62100"/>
            <a:ext cx="4486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其他质量要求</a:t>
            </a:r>
          </a:p>
        </p:txBody>
      </p:sp>
      <p:sp>
        <p:nvSpPr>
          <p:cNvPr id="10" name="text-187">
            <a:extLst xmlns:a="http://schemas.openxmlformats.org/drawingml/2006/main">
              <a:ext uri="{FF2B5EF4-FFF2-40B4-BE49-F238E27FC236}">
                <a16:creationId xmlns:a16="http://schemas.microsoft.com/office/drawing/2014/main" id="{CB38A6E8-82D6-4478-95E4-A0317B1E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52675"/>
            <a:ext cx="4486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来源可追溯</a:t>
            </a:r>
          </a:p>
        </p:txBody>
      </p:sp>
      <p:sp>
        <p:nvSpPr>
          <p:cNvPr id="11" name="text-188">
            <a:extLst xmlns:a="http://schemas.openxmlformats.org/drawingml/2006/main">
              <a:ext uri="{FF2B5EF4-FFF2-40B4-BE49-F238E27FC236}">
                <a16:creationId xmlns:a16="http://schemas.microsoft.com/office/drawing/2014/main" id="{CE3A6228-999C-44B2-953F-6C51B991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19400"/>
            <a:ext cx="4486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能回溯原始来源与更新记录</a:t>
            </a:r>
          </a:p>
        </p:txBody>
      </p:sp>
      <p:sp>
        <p:nvSpPr>
          <p:cNvPr id="12" name="text-189">
            <a:extLst xmlns:a="http://schemas.openxmlformats.org/drawingml/2006/main">
              <a:ext uri="{FF2B5EF4-FFF2-40B4-BE49-F238E27FC236}">
                <a16:creationId xmlns:a16="http://schemas.microsoft.com/office/drawing/2014/main" id="{02F33790-5C3C-456B-9F32-7ED6251E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76650"/>
            <a:ext cx="4486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越权操作被拒绝</a:t>
            </a:r>
          </a:p>
        </p:txBody>
      </p:sp>
      <p:sp>
        <p:nvSpPr>
          <p:cNvPr id="13" name="text-190">
            <a:extLst xmlns:a="http://schemas.openxmlformats.org/drawingml/2006/main">
              <a:ext uri="{FF2B5EF4-FFF2-40B4-BE49-F238E27FC236}">
                <a16:creationId xmlns:a16="http://schemas.microsoft.com/office/drawing/2014/main" id="{DF34DEC7-79A4-4FA9-AF19-EF776AB8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43375"/>
            <a:ext cx="44862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科研人员只能维护本人门户</a:t>
            </a:r>
          </a:p>
        </p:txBody>
      </p:sp>
      <p:sp>
        <p:nvSpPr>
          <p:cNvPr id="14" name="text-191">
            <a:extLst xmlns:a="http://schemas.openxmlformats.org/drawingml/2006/main">
              <a:ext uri="{FF2B5EF4-FFF2-40B4-BE49-F238E27FC236}">
                <a16:creationId xmlns:a16="http://schemas.microsoft.com/office/drawing/2014/main" id="{049B3EA8-71FD-4065-A132-563D5ABD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00625"/>
            <a:ext cx="4486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检索性能目标</a:t>
            </a:r>
          </a:p>
        </p:txBody>
      </p:sp>
      <p:sp>
        <p:nvSpPr>
          <p:cNvPr id="15" name="text-192">
            <a:extLst xmlns:a="http://schemas.openxmlformats.org/drawingml/2006/main">
              <a:ext uri="{FF2B5EF4-FFF2-40B4-BE49-F238E27FC236}">
                <a16:creationId xmlns:a16="http://schemas.microsoft.com/office/drawing/2014/main" id="{2B0737EB-99D2-442D-AE95-BE37CFE9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67350"/>
            <a:ext cx="44862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1万条成果、20并发时</a:t>
            </a:r>
          </a:p>
          <a:p xmlns:a="http://schemas.openxmlformats.org/drawingml/2006/main">
            <a:pPr algn="l">
              <a:def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95%的检索请求不超过2秒</a:t>
            </a:r>
          </a:p>
        </p:txBody>
      </p:sp>
      <p:sp>
        <p:nvSpPr>
          <p:cNvPr id="16" name="text-193">
            <a:extLst xmlns:a="http://schemas.openxmlformats.org/drawingml/2006/main">
              <a:ext uri="{FF2B5EF4-FFF2-40B4-BE49-F238E27FC236}">
                <a16:creationId xmlns:a16="http://schemas.microsoft.com/office/drawing/2014/main" id="{FBE0A645-80C1-4DDE-BA24-52D4C6CF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此页为需求与后续验收目标，尚无系统实测结果。</a:t>
            </a:r>
          </a:p>
        </p:txBody>
      </p:sp>
    </p:spTree>
    <p:extLst>
      <p:ext uri="{BB962C8B-B14F-4D97-AF65-F5344CB8AC3E}">
        <p14:creationId xmlns:p14="http://schemas.microsoft.com/office/powerpoint/2010/main" val="1840613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94">
            <a:extLst xmlns:a="http://schemas.openxmlformats.org/drawingml/2006/main">
              <a:ext uri="{FF2B5EF4-FFF2-40B4-BE49-F238E27FC236}">
                <a16:creationId xmlns:a16="http://schemas.microsoft.com/office/drawing/2014/main" id="{2040E764-63C7-4CAA-BB1D-575CA718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AI使用与人工验证</a:t>
            </a:r>
          </a:p>
        </p:txBody>
      </p:sp>
      <p:sp>
        <p:nvSpPr>
          <p:cNvPr id="2" name="text-195">
            <a:extLst xmlns:a="http://schemas.openxmlformats.org/drawingml/2006/main">
              <a:ext uri="{FF2B5EF4-FFF2-40B4-BE49-F238E27FC236}">
                <a16:creationId xmlns:a16="http://schemas.microsoft.com/office/drawing/2014/main" id="{98B24D2E-31A7-492E-B561-7A6B97C2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text-196">
            <a:extLst xmlns:a="http://schemas.openxmlformats.org/drawingml/2006/main">
              <a:ext uri="{FF2B5EF4-FFF2-40B4-BE49-F238E27FC236}">
                <a16:creationId xmlns:a16="http://schemas.microsoft.com/office/drawing/2014/main" id="{C3596998-95C7-4F87-8C5D-EF83169B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AI辅助环节</a:t>
            </a:r>
          </a:p>
        </p:txBody>
      </p:sp>
      <p:sp>
        <p:nvSpPr>
          <p:cNvPr id="4" name="text-197">
            <a:extLst xmlns:a="http://schemas.openxmlformats.org/drawingml/2006/main">
              <a:ext uri="{FF2B5EF4-FFF2-40B4-BE49-F238E27FC236}">
                <a16:creationId xmlns:a16="http://schemas.microsoft.com/office/drawing/2014/main" id="{9C76A1FE-3734-4EB2-9BF0-90F7585C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4006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公开资料整理</a:t>
            </a:r>
          </a:p>
          <a:p xmlns:a="http://schemas.openxmlformats.org/drawingml/2006/main">
            <a:pPr algn="l">
              <a:def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需求、模型与规则草稿</a:t>
            </a:r>
          </a:p>
        </p:txBody>
      </p:sp>
      <p:sp>
        <p:nvSpPr>
          <p:cNvPr id="5" name="text-198">
            <a:extLst xmlns:a="http://schemas.openxmlformats.org/drawingml/2006/main">
              <a:ext uri="{FF2B5EF4-FFF2-40B4-BE49-F238E27FC236}">
                <a16:creationId xmlns:a16="http://schemas.microsoft.com/office/drawing/2014/main" id="{B0987D75-DA94-4299-822E-5C0F62E6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依据审阅意见修正的例子</a:t>
            </a:r>
          </a:p>
        </p:txBody>
      </p:sp>
      <p:sp>
        <p:nvSpPr>
          <p:cNvPr id="6" name="text-199">
            <a:extLst xmlns:a="http://schemas.openxmlformats.org/drawingml/2006/main">
              <a:ext uri="{FF2B5EF4-FFF2-40B4-BE49-F238E27FC236}">
                <a16:creationId xmlns:a16="http://schemas.microsoft.com/office/drawing/2014/main" id="{19EA4F16-D545-42AE-803B-6D5505CC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400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初稿：学者检索说明不完整</a:t>
            </a:r>
          </a:p>
        </p:txBody>
      </p:sp>
      <p:sp>
        <p:nvSpPr>
          <p:cNvPr id="7" name="text-200">
            <a:extLst xmlns:a="http://schemas.openxmlformats.org/drawingml/2006/main">
              <a:ext uri="{FF2B5EF4-FFF2-40B4-BE49-F238E27FC236}">
                <a16:creationId xmlns:a16="http://schemas.microsoft.com/office/drawing/2014/main" id="{6E7CA2B7-FE3E-4DC7-9CD6-685B7E24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540067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修正：补充学者查询、同名区分</a:t>
            </a:r>
          </a:p>
          <a:p xmlns:a="http://schemas.openxmlformats.org/drawingml/2006/main">
            <a:pPr algn="l">
              <a:def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和独立门户入口</a:t>
            </a:r>
          </a:p>
        </p:txBody>
      </p:sp>
      <p:sp>
        <p:nvSpPr>
          <p:cNvPr id="8" name="text-201">
            <a:extLst xmlns:a="http://schemas.openxmlformats.org/drawingml/2006/main">
              <a:ext uri="{FF2B5EF4-FFF2-40B4-BE49-F238E27FC236}">
                <a16:creationId xmlns:a16="http://schemas.microsoft.com/office/drawing/2014/main" id="{DFF16C46-1A4D-421B-9331-A97F2E49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9725"/>
            <a:ext cx="506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两个小组的比较记录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01BF3-2CC2-4F2D-B7BA-00D763887F08}"/>
              </a:ext>
            </a:extLst>
          </p:cNvPr>
          <p:cNvGraphicFramePr/>
          <p:nvPr/>
        </p:nvGraphicFramePr>
        <p:xfrm>
          <a:off xmlns:a="http://schemas.openxmlformats.org/drawingml/2006/main" x="6515100" y="2238375"/>
          <a:ext xmlns:a="http://schemas.openxmlformats.org/drawingml/2006/main" cx="50673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1476375"/>
                <a:gridCol w="1476375"/>
              </a:tblGrid>
              <a:tr h="5048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T w="6668">
                      <a:solidFill>
                        <a:srgbClr val="C7D2CB"/>
                      </a:solidFill>
                    </a:lnT>
                    <a:lnB w="6668">
                      <a:solidFill>
                        <a:srgbClr val="C7D2CB"/>
                      </a:solidFill>
                    </a:lnB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第1分组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T w="6668">
                      <a:solidFill>
                        <a:srgbClr val="C7D2CB"/>
                      </a:solidFill>
                    </a:lnT>
                    <a:lnB w="6668">
                      <a:solidFill>
                        <a:srgbClr val="C7D2CB"/>
                      </a:solidFill>
                    </a:lnB>
                    <a:solidFill>
                      <a:srgbClr val="E8F1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第2分组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T w="6668">
                      <a:solidFill>
                        <a:srgbClr val="C7D2CB"/>
                      </a:solidFill>
                    </a:lnT>
                    <a:lnB w="6668">
                      <a:solidFill>
                        <a:srgbClr val="C7D2CB"/>
                      </a:solidFill>
                    </a:lnB>
                    <a:solidFill>
                      <a:srgbClr val="E8F1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模型与工具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提示词与路线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实验结果</a:t>
                      </a:r>
                    </a:p>
                  </a:txBody>
                  <a:tcPr marL="152400" marR="152400" marT="114300" marB="114300" anchor="ctr">
                    <a:lnL w="6668">
                      <a:solidFill>
                        <a:srgbClr val="C7D2CB"/>
                      </a:solidFill>
                    </a:lnL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E3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待填写</a:t>
                      </a:r>
                    </a:p>
                  </a:txBody>
                  <a:tcPr marL="152400" marR="152400" marT="114300" marB="114300" anchor="ctr">
                    <a:lnR w="6668">
                      <a:solidFill>
                        <a:srgbClr val="C7D2CB"/>
                      </a:solidFill>
                    </a:lnR>
                    <a:lnB w="6668">
                      <a:solidFill>
                        <a:srgbClr val="C7D2C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-202">
            <a:extLst xmlns:a="http://schemas.openxmlformats.org/drawingml/2006/main">
              <a:ext uri="{FF2B5EF4-FFF2-40B4-BE49-F238E27FC236}">
                <a16:creationId xmlns:a16="http://schemas.microsoft.com/office/drawing/2014/main" id="{8C50A357-472B-4305-B238-FB1BC063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33975"/>
            <a:ext cx="5067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E38"/>
                </a:solidFill>
                <a:latin typeface="Microsoft YaHei"/>
                <a:ea typeface="Microsoft YaHei"/>
                <a:cs typeface="Microsoft YaHei"/>
              </a:rPr>
              <a:t>比较内容：需求覆盖、模型错误、修正耗时</a:t>
            </a:r>
          </a:p>
        </p:txBody>
      </p:sp>
      <p:sp>
        <p:nvSpPr>
          <p:cNvPr id="11" name="text-203">
            <a:extLst xmlns:a="http://schemas.openxmlformats.org/drawingml/2006/main">
              <a:ext uri="{FF2B5EF4-FFF2-40B4-BE49-F238E27FC236}">
                <a16:creationId xmlns:a16="http://schemas.microsoft.com/office/drawing/2014/main" id="{2C8A4CA4-05DA-418D-AF4E-8ABFB749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915025"/>
            <a:ext cx="5067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A75D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A75D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75D34"/>
                </a:solidFill>
                <a:latin typeface="Microsoft YaHei"/>
                <a:ea typeface="Microsoft YaHei"/>
                <a:cs typeface="Microsoft YaHei"/>
              </a:rPr>
              <a:t>成员人工验证状态：待填写</a:t>
            </a:r>
          </a:p>
        </p:txBody>
      </p:sp>
      <p:sp>
        <p:nvSpPr>
          <p:cNvPr id="12" name="text-204">
            <a:extLst xmlns:a="http://schemas.openxmlformats.org/drawingml/2006/main">
              <a:ext uri="{FF2B5EF4-FFF2-40B4-BE49-F238E27FC236}">
                <a16:creationId xmlns:a16="http://schemas.microsoft.com/office/drawing/2014/main" id="{EBF84DB2-3D80-446A-B1E4-CA4B686E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6C65"/>
                </a:solidFill>
                <a:latin typeface="Microsoft YaHei"/>
                <a:ea typeface="Microsoft YaHei"/>
                <a:cs typeface="Microsoft YaHei"/>
              </a:rPr>
              <a:t>真实双组实验尚未完成；关键判断与最终责任由团队成员承担。</a:t>
            </a:r>
          </a:p>
        </p:txBody>
      </p:sp>
    </p:spTree>
    <p:extLst>
      <p:ext uri="{BB962C8B-B14F-4D97-AF65-F5344CB8AC3E}">
        <p14:creationId xmlns:p14="http://schemas.microsoft.com/office/powerpoint/2010/main" val="16739103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3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05">
            <a:extLst xmlns:a="http://schemas.openxmlformats.org/drawingml/2006/main">
              <a:ext uri="{FF2B5EF4-FFF2-40B4-BE49-F238E27FC236}">
                <a16:creationId xmlns:a16="http://schemas.microsoft.com/office/drawing/2014/main" id="{43B3D790-2097-42D2-9B6B-ACEA5A0D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阶段结论与待确认事项</a:t>
            </a:r>
          </a:p>
        </p:txBody>
      </p:sp>
      <p:sp>
        <p:nvSpPr>
          <p:cNvPr id="2" name="text-206">
            <a:extLst xmlns:a="http://schemas.openxmlformats.org/drawingml/2006/main">
              <a:ext uri="{FF2B5EF4-FFF2-40B4-BE49-F238E27FC236}">
                <a16:creationId xmlns:a16="http://schemas.microsoft.com/office/drawing/2014/main" id="{6CADEA0D-550E-47FF-BF34-6A58D250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text-207">
            <a:extLst xmlns:a="http://schemas.openxmlformats.org/drawingml/2006/main">
              <a:ext uri="{FF2B5EF4-FFF2-40B4-BE49-F238E27FC236}">
                <a16:creationId xmlns:a16="http://schemas.microsoft.com/office/drawing/2014/main" id="{8826A851-340C-4612-B6B6-F8D44BAC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251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一期聚焦公开成果共享，门户维护须经过身份审核</a:t>
            </a:r>
          </a:p>
        </p:txBody>
      </p:sp>
      <p:sp>
        <p:nvSpPr>
          <p:cNvPr id="4" name="text-208">
            <a:extLst xmlns:a="http://schemas.openxmlformats.org/drawingml/2006/main">
              <a:ext uri="{FF2B5EF4-FFF2-40B4-BE49-F238E27FC236}">
                <a16:creationId xmlns:a16="http://schemas.microsoft.com/office/drawing/2014/main" id="{1292DB4D-1181-41BC-983E-07DD4096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9251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rPr>
              <a:t>已形成调研报告、SRS、SPEC与四张核心模型图草案。</a:t>
            </a:r>
          </a:p>
        </p:txBody>
      </p:sp>
      <p:sp>
        <p:nvSpPr>
          <p:cNvPr id="5" name="text-209">
            <a:extLst xmlns:a="http://schemas.openxmlformats.org/drawingml/2006/main">
              <a:ext uri="{FF2B5EF4-FFF2-40B4-BE49-F238E27FC236}">
                <a16:creationId xmlns:a16="http://schemas.microsoft.com/office/drawing/2014/main" id="{D301B1C6-BF76-47EB-997B-4B394739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0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研讨希望确认</a:t>
            </a:r>
          </a:p>
        </p:txBody>
      </p:sp>
      <p:sp>
        <p:nvSpPr>
          <p:cNvPr id="6" name="text-210">
            <a:extLst xmlns:a="http://schemas.openxmlformats.org/drawingml/2006/main">
              <a:ext uri="{FF2B5EF4-FFF2-40B4-BE49-F238E27FC236}">
                <a16:creationId xmlns:a16="http://schemas.microsoft.com/office/drawing/2014/main" id="{0D0B8282-928D-422B-ACB2-350700FA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52578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认领应接受哪些可验证证据？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非论文数据采用何种可行获取方式？</a:t>
            </a:r>
          </a:p>
        </p:txBody>
      </p:sp>
      <p:sp>
        <p:nvSpPr>
          <p:cNvPr id="7" name="text-211">
            <a:extLst xmlns:a="http://schemas.openxmlformats.org/drawingml/2006/main">
              <a:ext uri="{FF2B5EF4-FFF2-40B4-BE49-F238E27FC236}">
                <a16:creationId xmlns:a16="http://schemas.microsoft.com/office/drawing/2014/main" id="{94D01FC0-15FB-43C2-852D-1AA7C309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429000"/>
            <a:ext cx="49434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8" name="text-212">
            <a:extLst xmlns:a="http://schemas.openxmlformats.org/drawingml/2006/main">
              <a:ext uri="{FF2B5EF4-FFF2-40B4-BE49-F238E27FC236}">
                <a16:creationId xmlns:a16="http://schemas.microsoft.com/office/drawing/2014/main" id="{5770C474-C151-45C1-AC18-51CC9653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143375"/>
            <a:ext cx="4943475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课前：成员复核，补齐双组记录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课堂：记录教师与同学意见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课后：补来源样例与分类映射，修订终稿</a:t>
            </a:r>
          </a:p>
        </p:txBody>
      </p:sp>
      <p:sp>
        <p:nvSpPr>
          <p:cNvPr id="9" name="text-213">
            <a:extLst xmlns:a="http://schemas.openxmlformats.org/drawingml/2006/main">
              <a:ext uri="{FF2B5EF4-FFF2-40B4-BE49-F238E27FC236}">
                <a16:creationId xmlns:a16="http://schemas.microsoft.com/office/drawing/2014/main" id="{84030DD5-893C-4BE3-BCB1-631F5172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5E5DD"/>
                </a:solidFill>
                <a:latin typeface="Microsoft YaHei"/>
                <a:ea typeface="Microsoft YaHei"/>
                <a:cs typeface="Microsoft YaHei"/>
              </a:rPr>
              <a:t>终稿建议10月20日24:00前提交，具体时间与渠道以教师通知为准。</a:t>
            </a:r>
          </a:p>
        </p:txBody>
      </p:sp>
    </p:spTree>
    <p:extLst>
      <p:ext uri="{BB962C8B-B14F-4D97-AF65-F5344CB8AC3E}">
        <p14:creationId xmlns:p14="http://schemas.microsoft.com/office/powerpoint/2010/main" val="566398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2026-10-13T07:32:05.1900000Z</dcterms:created>
  <dcterms:modified xsi:type="dcterms:W3CDTF">2026-10-13T07:32:05.1900000Z</dcterms:modified>
</coreProperties>
</file>